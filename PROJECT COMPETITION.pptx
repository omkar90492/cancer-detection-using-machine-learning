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257" r:id="rId2"/>
    <p:sldId id="259" r:id="rId3"/>
    <p:sldId id="294" r:id="rId4"/>
    <p:sldId id="260" r:id="rId5"/>
    <p:sldId id="261" r:id="rId6"/>
    <p:sldId id="262" r:id="rId7"/>
    <p:sldId id="295" r:id="rId8"/>
    <p:sldId id="296" r:id="rId9"/>
    <p:sldId id="297" r:id="rId10"/>
    <p:sldId id="298" r:id="rId11"/>
    <p:sldId id="29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F0C273-AB36-429C-911D-C4B3B82BBE1C}" type="datetimeFigureOut">
              <a:rPr lang="en-IN" smtClean="0"/>
              <a:t>01-04-2026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9CED7-3C46-44C6-97C6-4CE2759D48E5}" type="slidenum">
              <a:rPr lang="en-IN" smtClean="0"/>
              <a:t>‹#›</a:t>
            </a:fld>
            <a:endParaRPr lang="en-IN"/>
          </a:p>
        </p:txBody>
      </p:sp>
    </p:spTree>
    <p:extLst>
      <p:ext uri="{BB962C8B-B14F-4D97-AF65-F5344CB8AC3E}">
        <p14:creationId xmlns:p14="http://schemas.microsoft.com/office/powerpoint/2010/main" val="1177563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379CED7-3C46-44C6-97C6-4CE2759D48E5}" type="slidenum">
              <a:rPr lang="en-IN" smtClean="0"/>
              <a:t>8</a:t>
            </a:fld>
            <a:endParaRPr lang="en-IN"/>
          </a:p>
        </p:txBody>
      </p:sp>
    </p:spTree>
    <p:extLst>
      <p:ext uri="{BB962C8B-B14F-4D97-AF65-F5344CB8AC3E}">
        <p14:creationId xmlns:p14="http://schemas.microsoft.com/office/powerpoint/2010/main" val="2716516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D0DCF-ECC6-F7AF-0037-B354CE5C2F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5CB65-4A80-C765-2DCE-C6C3A75ABD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9EF6F2-8D19-30C0-F479-10FC0BE72D0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5EA63BE-5899-E649-6B76-8D71BFE80EB8}"/>
              </a:ext>
            </a:extLst>
          </p:cNvPr>
          <p:cNvSpPr>
            <a:spLocks noGrp="1"/>
          </p:cNvSpPr>
          <p:nvPr>
            <p:ph type="sldNum" sz="quarter" idx="5"/>
          </p:nvPr>
        </p:nvSpPr>
        <p:spPr/>
        <p:txBody>
          <a:bodyPr/>
          <a:lstStyle/>
          <a:p>
            <a:fld id="{8379CED7-3C46-44C6-97C6-4CE2759D48E5}" type="slidenum">
              <a:rPr lang="en-IN" smtClean="0"/>
              <a:t>9</a:t>
            </a:fld>
            <a:endParaRPr lang="en-IN"/>
          </a:p>
        </p:txBody>
      </p:sp>
    </p:spTree>
    <p:extLst>
      <p:ext uri="{BB962C8B-B14F-4D97-AF65-F5344CB8AC3E}">
        <p14:creationId xmlns:p14="http://schemas.microsoft.com/office/powerpoint/2010/main" val="2773253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867FAB-904E-4E49-9226-CB7FF8D4CDEF}"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4254816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4146D21-8961-4214-BF82-F78C32421FEE}"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2939770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914545-3521-4FE8-9DF1-951F263CCD1C}"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23612905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58DE8E-762D-4B9A-AA56-629DE0DF88CA}" type="datetime1">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1134252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D6BA6A-6C24-4F17-9CA9-19A8F53EE6FB}" type="datetime1">
              <a:rPr lang="en-IN" smtClean="0"/>
              <a:t>01-04-2026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35355900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2B3810-14EA-41E7-8B67-633ECC366294}" type="datetime1">
              <a:rPr lang="en-IN" smtClean="0"/>
              <a:t>01-04-2026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1509127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1BEDAB-A8BE-4F17-87F3-F2950029D1F1}" type="datetime1">
              <a:rPr lang="en-IN" smtClean="0"/>
              <a:t>01-04-2026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20039533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D555950-FED8-4D9A-AE75-49C9B710B9D2}" type="datetime1">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2939513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DC931CA-C8FE-4BE2-A012-C141BA1C1E5D}" type="datetime1">
              <a:rPr lang="en-IN" smtClean="0"/>
              <a:t>01-04-2026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2693491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F20DA2D-B9E0-453B-91A6-CE4B0927897B}"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9716150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AB85D9-406B-4A02-877D-77044145AD23}"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934658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AF0B77-F3E0-4527-84BD-80BAAA4F9177}"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24854248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FB5D1D-B068-4917-88A5-7367E4FEFC80}"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86216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0351CA4-CCE5-45D2-9883-BE9E743A41BE}"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2854652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689E07-0EEE-4AD0-93E8-407035F5A1A7}"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19675927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5B0978-F160-4FEE-A218-4852C9B2D3F9}" type="datetime1">
              <a:rPr lang="en-IN" smtClean="0"/>
              <a:t>01-04-2026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64E2D6-BFD1-4BC6-B32C-179B2E242C59}" type="slidenum">
              <a:rPr lang="en-IN" smtClean="0"/>
              <a:t>‹#›</a:t>
            </a:fld>
            <a:endParaRPr lang="en-IN"/>
          </a:p>
        </p:txBody>
      </p:sp>
    </p:spTree>
    <p:extLst>
      <p:ext uri="{BB962C8B-B14F-4D97-AF65-F5344CB8AC3E}">
        <p14:creationId xmlns:p14="http://schemas.microsoft.com/office/powerpoint/2010/main" val="4288609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2B9B26-5B83-4D58-B637-B72653A8919D}" type="datetime1">
              <a:rPr lang="en-IN" smtClean="0"/>
              <a:t>01-04-2026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F64E2D6-BFD1-4BC6-B32C-179B2E242C59}" type="slidenum">
              <a:rPr lang="en-IN" smtClean="0"/>
              <a:t>‹#›</a:t>
            </a:fld>
            <a:endParaRPr lang="en-IN"/>
          </a:p>
        </p:txBody>
      </p:sp>
    </p:spTree>
    <p:extLst>
      <p:ext uri="{BB962C8B-B14F-4D97-AF65-F5344CB8AC3E}">
        <p14:creationId xmlns:p14="http://schemas.microsoft.com/office/powerpoint/2010/main" val="884713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647A7-0B55-F38A-8B48-CCF30F4985A9}"/>
              </a:ext>
            </a:extLst>
          </p:cNvPr>
          <p:cNvSpPr>
            <a:spLocks noGrp="1"/>
          </p:cNvSpPr>
          <p:nvPr>
            <p:ph type="ctrTitle"/>
          </p:nvPr>
        </p:nvSpPr>
        <p:spPr>
          <a:xfrm>
            <a:off x="1658363" y="239325"/>
            <a:ext cx="7766936" cy="1646302"/>
          </a:xfrm>
        </p:spPr>
        <p:txBody>
          <a:bodyPr/>
          <a:lstStyle/>
          <a:p>
            <a:pPr algn="ctr"/>
            <a:r>
              <a:rPr lang="en-US" sz="2400" b="1" dirty="0">
                <a:solidFill>
                  <a:schemeClr val="tx1"/>
                </a:solidFill>
                <a:latin typeface="Arial" panose="020B0604020202020204" pitchFamily="34" charset="0"/>
                <a:ea typeface="Calibri Light" panose="020F0302020204030204" pitchFamily="34" charset="0"/>
                <a:cs typeface="Arial" panose="020B0604020202020204" pitchFamily="34" charset="0"/>
              </a:rPr>
              <a:t>Pillai HOC College of Engineering and Technology</a:t>
            </a:r>
            <a:br>
              <a:rPr lang="en-US" sz="2400" b="1" dirty="0">
                <a:solidFill>
                  <a:schemeClr val="tx1"/>
                </a:solidFill>
                <a:latin typeface="Arial" panose="020B0604020202020204" pitchFamily="34" charset="0"/>
                <a:ea typeface="Calibri Light" panose="020F0302020204030204" pitchFamily="34" charset="0"/>
                <a:cs typeface="Arial" panose="020B0604020202020204" pitchFamily="34" charset="0"/>
              </a:rPr>
            </a:br>
            <a:br>
              <a:rPr lang="en-US" sz="2400" b="1" dirty="0">
                <a:solidFill>
                  <a:schemeClr val="tx1"/>
                </a:solidFill>
                <a:latin typeface="Arial" panose="020B0604020202020204" pitchFamily="34" charset="0"/>
                <a:ea typeface="Calibri Light" panose="020F0302020204030204" pitchFamily="34" charset="0"/>
                <a:cs typeface="Arial" panose="020B0604020202020204" pitchFamily="34" charset="0"/>
              </a:rPr>
            </a:br>
            <a:r>
              <a:rPr lang="en-US" sz="2400" b="1" dirty="0">
                <a:solidFill>
                  <a:schemeClr val="tx1"/>
                </a:solidFill>
                <a:latin typeface="Arial" panose="020B0604020202020204" pitchFamily="34" charset="0"/>
                <a:ea typeface="Calibri Light" panose="020F0302020204030204" pitchFamily="34" charset="0"/>
                <a:cs typeface="Arial" panose="020B0604020202020204" pitchFamily="34" charset="0"/>
              </a:rPr>
              <a:t>Department of Electronics and Computer Science</a:t>
            </a:r>
            <a:br>
              <a:rPr lang="en-US" sz="2400" b="1" dirty="0">
                <a:solidFill>
                  <a:schemeClr val="tx1"/>
                </a:solidFill>
                <a:latin typeface="Arial" panose="020B0604020202020204" pitchFamily="34" charset="0"/>
                <a:cs typeface="Arial" panose="020B0604020202020204" pitchFamily="34" charset="0"/>
              </a:rPr>
            </a:br>
            <a:endParaRPr lang="en-IN" sz="2400" dirty="0">
              <a:solidFill>
                <a:schemeClr val="tx1"/>
              </a:solidFill>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CFC0D04C-EC26-895C-EDA8-0F680C902CF7}"/>
              </a:ext>
            </a:extLst>
          </p:cNvPr>
          <p:cNvPicPr>
            <a:picLocks noChangeAspect="1"/>
          </p:cNvPicPr>
          <p:nvPr/>
        </p:nvPicPr>
        <p:blipFill>
          <a:blip r:embed="rId2"/>
          <a:stretch>
            <a:fillRect/>
          </a:stretch>
        </p:blipFill>
        <p:spPr>
          <a:xfrm>
            <a:off x="793679" y="349895"/>
            <a:ext cx="1093139" cy="1303864"/>
          </a:xfrm>
          <a:prstGeom prst="rect">
            <a:avLst/>
          </a:prstGeom>
        </p:spPr>
      </p:pic>
      <p:pic>
        <p:nvPicPr>
          <p:cNvPr id="5" name="Picture 4">
            <a:extLst>
              <a:ext uri="{FF2B5EF4-FFF2-40B4-BE49-F238E27FC236}">
                <a16:creationId xmlns:a16="http://schemas.microsoft.com/office/drawing/2014/main" id="{45ABC685-0174-C245-66A9-864386608D16}"/>
              </a:ext>
            </a:extLst>
          </p:cNvPr>
          <p:cNvPicPr>
            <a:picLocks noChangeAspect="1"/>
          </p:cNvPicPr>
          <p:nvPr/>
        </p:nvPicPr>
        <p:blipFill>
          <a:blip r:embed="rId3"/>
          <a:stretch>
            <a:fillRect/>
          </a:stretch>
        </p:blipFill>
        <p:spPr>
          <a:xfrm>
            <a:off x="10077061" y="349895"/>
            <a:ext cx="1610601" cy="1053270"/>
          </a:xfrm>
          <a:prstGeom prst="rect">
            <a:avLst/>
          </a:prstGeom>
        </p:spPr>
      </p:pic>
      <p:sp>
        <p:nvSpPr>
          <p:cNvPr id="6" name="TextBox 5">
            <a:extLst>
              <a:ext uri="{FF2B5EF4-FFF2-40B4-BE49-F238E27FC236}">
                <a16:creationId xmlns:a16="http://schemas.microsoft.com/office/drawing/2014/main" id="{F06B2B63-5C9B-6602-6DA6-ED883EA4ABF4}"/>
              </a:ext>
            </a:extLst>
          </p:cNvPr>
          <p:cNvSpPr txBox="1"/>
          <p:nvPr/>
        </p:nvSpPr>
        <p:spPr>
          <a:xfrm>
            <a:off x="1616045" y="4938445"/>
            <a:ext cx="7063274" cy="830997"/>
          </a:xfrm>
          <a:prstGeom prst="rect">
            <a:avLst/>
          </a:prstGeom>
          <a:noFill/>
        </p:spPr>
        <p:txBody>
          <a:bodyPr wrap="square" rtlCol="0">
            <a:spAutoFit/>
          </a:bodyPr>
          <a:lstStyle/>
          <a:p>
            <a:pPr algn="ctr"/>
            <a:r>
              <a:rPr lang="en-IN" sz="2400" b="1" u="sng" dirty="0">
                <a:latin typeface="Arial" panose="020B0604020202020204" pitchFamily="34" charset="0"/>
                <a:cs typeface="Arial" panose="020B0604020202020204" pitchFamily="34" charset="0"/>
              </a:rPr>
              <a:t>PREPARED BY:</a:t>
            </a:r>
          </a:p>
          <a:p>
            <a:pPr algn="ctr"/>
            <a:r>
              <a:rPr lang="en-IN" sz="2400" dirty="0">
                <a:latin typeface="Arial" panose="020B0604020202020204" pitchFamily="34" charset="0"/>
                <a:cs typeface="Arial" panose="020B0604020202020204" pitchFamily="34" charset="0"/>
              </a:rPr>
              <a:t>Omkar Shinde</a:t>
            </a:r>
          </a:p>
        </p:txBody>
      </p:sp>
      <p:sp>
        <p:nvSpPr>
          <p:cNvPr id="7" name="Rectangle: Rounded Corners 6">
            <a:extLst>
              <a:ext uri="{FF2B5EF4-FFF2-40B4-BE49-F238E27FC236}">
                <a16:creationId xmlns:a16="http://schemas.microsoft.com/office/drawing/2014/main" id="{C8D4AD1D-B274-32FF-8942-BA099922BF52}"/>
              </a:ext>
            </a:extLst>
          </p:cNvPr>
          <p:cNvSpPr/>
          <p:nvPr/>
        </p:nvSpPr>
        <p:spPr>
          <a:xfrm>
            <a:off x="870065" y="2563762"/>
            <a:ext cx="8555234" cy="1730476"/>
          </a:xfrm>
          <a:prstGeom prst="roundRect">
            <a:avLst>
              <a:gd name="adj" fmla="val 10904"/>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5400" b="1" dirty="0">
                <a:solidFill>
                  <a:schemeClr val="tx1"/>
                </a:solidFill>
                <a:latin typeface="Arial" panose="020B0604020202020204" pitchFamily="34" charset="0"/>
                <a:cs typeface="Arial" panose="020B0604020202020204" pitchFamily="34" charset="0"/>
              </a:rPr>
              <a:t>Cancer Detection Using Machine Learning </a:t>
            </a:r>
            <a:r>
              <a:rPr lang="en-US" sz="4800" b="1" dirty="0">
                <a:solidFill>
                  <a:schemeClr val="tx1"/>
                </a:solidFill>
                <a:latin typeface="Arial" panose="020B0604020202020204" pitchFamily="34" charset="0"/>
                <a:cs typeface="Arial" panose="020B0604020202020204" pitchFamily="34" charset="0"/>
              </a:rPr>
              <a:t>Project</a:t>
            </a:r>
            <a:endParaRPr lang="en-IN" sz="4800" b="1" dirty="0">
              <a:solidFill>
                <a:schemeClr val="tx1"/>
              </a:solidFill>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2DD982D6-B2A2-7D05-DBAF-C302C8DC645F}"/>
              </a:ext>
            </a:extLst>
          </p:cNvPr>
          <p:cNvSpPr txBox="1"/>
          <p:nvPr/>
        </p:nvSpPr>
        <p:spPr>
          <a:xfrm>
            <a:off x="11825313" y="6410632"/>
            <a:ext cx="442452" cy="369332"/>
          </a:xfrm>
          <a:prstGeom prst="rect">
            <a:avLst/>
          </a:prstGeom>
          <a:noFill/>
        </p:spPr>
        <p:txBody>
          <a:bodyPr wrap="square" rtlCol="0">
            <a:spAutoFit/>
          </a:bodyPr>
          <a:lstStyle/>
          <a:p>
            <a:r>
              <a:rPr lang="en-IN" dirty="0"/>
              <a:t>1</a:t>
            </a:r>
          </a:p>
        </p:txBody>
      </p:sp>
    </p:spTree>
    <p:extLst>
      <p:ext uri="{BB962C8B-B14F-4D97-AF65-F5344CB8AC3E}">
        <p14:creationId xmlns:p14="http://schemas.microsoft.com/office/powerpoint/2010/main" val="853140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A3AC446-76F0-F45F-AE62-77F36DD9956E}"/>
              </a:ext>
            </a:extLst>
          </p:cNvPr>
          <p:cNvSpPr/>
          <p:nvPr/>
        </p:nvSpPr>
        <p:spPr>
          <a:xfrm>
            <a:off x="966291" y="334296"/>
            <a:ext cx="2681477" cy="87501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D485FE9-6C1B-5C3C-AB03-8B66E65D7773}"/>
              </a:ext>
            </a:extLst>
          </p:cNvPr>
          <p:cNvSpPr>
            <a:spLocks noGrp="1"/>
          </p:cNvSpPr>
          <p:nvPr>
            <p:ph type="ctrTitle"/>
          </p:nvPr>
        </p:nvSpPr>
        <p:spPr>
          <a:xfrm>
            <a:off x="1035117" y="334296"/>
            <a:ext cx="2612651" cy="875017"/>
          </a:xfrm>
        </p:spPr>
        <p:txBody>
          <a:bodyPr/>
          <a:lstStyle/>
          <a:p>
            <a:pPr algn="l"/>
            <a:r>
              <a:rPr lang="en-IN" b="1" dirty="0">
                <a:solidFill>
                  <a:schemeClr val="tx2"/>
                </a:solidFill>
                <a:latin typeface="Arial" panose="020B0604020202020204" pitchFamily="34" charset="0"/>
                <a:cs typeface="Arial" panose="020B0604020202020204" pitchFamily="34" charset="0"/>
              </a:rPr>
              <a:t>Outline</a:t>
            </a:r>
          </a:p>
        </p:txBody>
      </p:sp>
      <p:sp>
        <p:nvSpPr>
          <p:cNvPr id="3" name="Subtitle 2">
            <a:extLst>
              <a:ext uri="{FF2B5EF4-FFF2-40B4-BE49-F238E27FC236}">
                <a16:creationId xmlns:a16="http://schemas.microsoft.com/office/drawing/2014/main" id="{2E8E5548-C817-2D52-80CC-EA63D56FF591}"/>
              </a:ext>
            </a:extLst>
          </p:cNvPr>
          <p:cNvSpPr>
            <a:spLocks noGrp="1"/>
          </p:cNvSpPr>
          <p:nvPr>
            <p:ph type="subTitle" idx="1"/>
          </p:nvPr>
        </p:nvSpPr>
        <p:spPr>
          <a:xfrm>
            <a:off x="1035117" y="1838631"/>
            <a:ext cx="8816806" cy="4178710"/>
          </a:xfrm>
          <a:blipFill>
            <a:blip r:embed="rId2"/>
            <a:tile tx="0" ty="0" sx="100000" sy="100000" flip="none" algn="tl"/>
          </a:blipFill>
          <a:ln w="19050">
            <a:solidFill>
              <a:schemeClr val="tx2"/>
            </a:solidFill>
          </a:ln>
        </p:spPr>
        <p:txBody>
          <a:bodyPr>
            <a:normAutofit fontScale="47500" lnSpcReduction="20000"/>
          </a:bodyPr>
          <a:lstStyle/>
          <a:p>
            <a:pPr marL="514350" indent="-514350" algn="l">
              <a:lnSpc>
                <a:spcPct val="150000"/>
              </a:lnSpc>
              <a:buClr>
                <a:schemeClr val="tx1"/>
              </a:buClr>
              <a:buFont typeface="+mj-lt"/>
              <a:buAutoNum type="arabicParenR"/>
            </a:pPr>
            <a:r>
              <a:rPr lang="en-US" sz="4200" dirty="0">
                <a:solidFill>
                  <a:schemeClr val="tx1"/>
                </a:solidFill>
                <a:latin typeface="Arial" panose="020B0604020202020204" pitchFamily="34" charset="0"/>
                <a:cs typeface="Arial" panose="020B0604020202020204" pitchFamily="34" charset="0"/>
              </a:rPr>
              <a:t>Problem Statement </a:t>
            </a:r>
          </a:p>
          <a:p>
            <a:pPr marL="514350" indent="-514350" algn="l">
              <a:lnSpc>
                <a:spcPct val="150000"/>
              </a:lnSpc>
              <a:buClr>
                <a:schemeClr val="tx1"/>
              </a:buClr>
              <a:buFont typeface="+mj-lt"/>
              <a:buAutoNum type="arabicParenR"/>
            </a:pPr>
            <a:r>
              <a:rPr lang="en-US" sz="4200" dirty="0">
                <a:solidFill>
                  <a:schemeClr val="tx1"/>
                </a:solidFill>
                <a:latin typeface="Arial" panose="020B0604020202020204" pitchFamily="34" charset="0"/>
                <a:cs typeface="Arial" panose="020B0604020202020204" pitchFamily="34" charset="0"/>
              </a:rPr>
              <a:t>Objective </a:t>
            </a:r>
          </a:p>
          <a:p>
            <a:pPr marL="514350" indent="-514350" algn="l">
              <a:lnSpc>
                <a:spcPct val="150000"/>
              </a:lnSpc>
              <a:buClr>
                <a:schemeClr val="tx1"/>
              </a:buClr>
              <a:buFont typeface="+mj-lt"/>
              <a:buAutoNum type="arabicParenR"/>
            </a:pPr>
            <a:r>
              <a:rPr lang="en-US" sz="4200" dirty="0">
                <a:solidFill>
                  <a:schemeClr val="tx1"/>
                </a:solidFill>
                <a:latin typeface="Arial" panose="020B0604020202020204" pitchFamily="34" charset="0"/>
                <a:cs typeface="Arial" panose="020B0604020202020204" pitchFamily="34" charset="0"/>
              </a:rPr>
              <a:t>Dataset Description </a:t>
            </a:r>
          </a:p>
          <a:p>
            <a:pPr marL="514350" indent="-514350" algn="l">
              <a:lnSpc>
                <a:spcPct val="150000"/>
              </a:lnSpc>
              <a:buClr>
                <a:schemeClr val="tx1"/>
              </a:buClr>
              <a:buFont typeface="+mj-lt"/>
              <a:buAutoNum type="arabicParenR"/>
            </a:pPr>
            <a:r>
              <a:rPr lang="en-US" sz="4200" dirty="0">
                <a:solidFill>
                  <a:schemeClr val="tx1"/>
                </a:solidFill>
                <a:latin typeface="Arial" panose="020B0604020202020204" pitchFamily="34" charset="0"/>
                <a:cs typeface="Arial" panose="020B0604020202020204" pitchFamily="34" charset="0"/>
              </a:rPr>
              <a:t>Methodology </a:t>
            </a:r>
          </a:p>
          <a:p>
            <a:pPr marL="514350" indent="-514350" algn="l">
              <a:lnSpc>
                <a:spcPct val="150000"/>
              </a:lnSpc>
              <a:buClr>
                <a:schemeClr val="tx1"/>
              </a:buClr>
              <a:buFont typeface="+mj-lt"/>
              <a:buAutoNum type="arabicParenR"/>
            </a:pPr>
            <a:r>
              <a:rPr lang="en-US" sz="4200" dirty="0">
                <a:solidFill>
                  <a:schemeClr val="tx1"/>
                </a:solidFill>
                <a:latin typeface="Arial" panose="020B0604020202020204" pitchFamily="34" charset="0"/>
                <a:cs typeface="Arial" panose="020B0604020202020204" pitchFamily="34" charset="0"/>
              </a:rPr>
              <a:t>Algorithms Used </a:t>
            </a:r>
          </a:p>
          <a:p>
            <a:pPr marL="514350" indent="-514350" algn="l">
              <a:lnSpc>
                <a:spcPct val="150000"/>
              </a:lnSpc>
              <a:buClr>
                <a:schemeClr val="tx1"/>
              </a:buClr>
              <a:buFont typeface="+mj-lt"/>
              <a:buAutoNum type="arabicParenR"/>
            </a:pPr>
            <a:r>
              <a:rPr lang="en-US" sz="4200" dirty="0">
                <a:solidFill>
                  <a:schemeClr val="tx1"/>
                </a:solidFill>
                <a:latin typeface="Arial" panose="020B0604020202020204" pitchFamily="34" charset="0"/>
                <a:cs typeface="Arial" panose="020B0604020202020204" pitchFamily="34" charset="0"/>
              </a:rPr>
              <a:t>Results &amp; Analysis</a:t>
            </a:r>
          </a:p>
          <a:p>
            <a:pPr marL="514350" indent="-514350" algn="l">
              <a:lnSpc>
                <a:spcPct val="150000"/>
              </a:lnSpc>
              <a:buClr>
                <a:schemeClr val="tx1"/>
              </a:buClr>
              <a:buFont typeface="+mj-lt"/>
              <a:buAutoNum type="arabicParenR"/>
            </a:pPr>
            <a:r>
              <a:rPr lang="en-US" sz="4200">
                <a:solidFill>
                  <a:schemeClr val="tx1"/>
                </a:solidFill>
                <a:latin typeface="Arial" panose="020B0604020202020204" pitchFamily="34" charset="0"/>
                <a:cs typeface="Arial" panose="020B0604020202020204" pitchFamily="34" charset="0"/>
              </a:rPr>
              <a:t>Output And Graphs </a:t>
            </a:r>
            <a:endParaRPr lang="en-US" sz="4200" dirty="0">
              <a:solidFill>
                <a:schemeClr val="tx1"/>
              </a:solidFill>
              <a:latin typeface="Arial" panose="020B0604020202020204" pitchFamily="34" charset="0"/>
              <a:cs typeface="Arial" panose="020B0604020202020204" pitchFamily="34" charset="0"/>
            </a:endParaRPr>
          </a:p>
          <a:p>
            <a:pPr marL="514350" indent="-514350" algn="l">
              <a:lnSpc>
                <a:spcPct val="150000"/>
              </a:lnSpc>
              <a:buClr>
                <a:schemeClr val="tx1"/>
              </a:buClr>
              <a:buFont typeface="+mj-lt"/>
              <a:buAutoNum type="arabicParenR"/>
            </a:pPr>
            <a:r>
              <a:rPr lang="en-US" sz="4200" dirty="0">
                <a:solidFill>
                  <a:schemeClr val="tx1"/>
                </a:solidFill>
                <a:latin typeface="Arial" panose="020B0604020202020204" pitchFamily="34" charset="0"/>
                <a:cs typeface="Arial" panose="020B0604020202020204" pitchFamily="34" charset="0"/>
              </a:rPr>
              <a:t>Conclusion </a:t>
            </a:r>
            <a:endParaRPr lang="en-IN" sz="4200" dirty="0">
              <a:solidFill>
                <a:schemeClr val="tx1"/>
              </a:solidFill>
              <a:latin typeface="Arial" panose="020B0604020202020204" pitchFamily="34" charset="0"/>
              <a:cs typeface="Arial" panose="020B0604020202020204" pitchFamily="34" charset="0"/>
            </a:endParaRPr>
          </a:p>
          <a:p>
            <a:pPr marL="457200" indent="-457200" algn="l">
              <a:buClr>
                <a:schemeClr val="tx1"/>
              </a:buClr>
              <a:buFont typeface="Wingdings" panose="05000000000000000000" pitchFamily="2" charset="2"/>
              <a:buChar char="Ø"/>
            </a:pPr>
            <a:endParaRPr lang="en-IN" sz="2800" dirty="0">
              <a:solidFill>
                <a:schemeClr val="tx1"/>
              </a:solidFill>
            </a:endParaRPr>
          </a:p>
        </p:txBody>
      </p:sp>
      <p:sp>
        <p:nvSpPr>
          <p:cNvPr id="8" name="TextBox 7">
            <a:extLst>
              <a:ext uri="{FF2B5EF4-FFF2-40B4-BE49-F238E27FC236}">
                <a16:creationId xmlns:a16="http://schemas.microsoft.com/office/drawing/2014/main" id="{2BCD684A-B9DE-5120-DCF6-44E79362413E}"/>
              </a:ext>
            </a:extLst>
          </p:cNvPr>
          <p:cNvSpPr txBox="1"/>
          <p:nvPr/>
        </p:nvSpPr>
        <p:spPr>
          <a:xfrm>
            <a:off x="11825313" y="6410632"/>
            <a:ext cx="442452" cy="369332"/>
          </a:xfrm>
          <a:prstGeom prst="rect">
            <a:avLst/>
          </a:prstGeom>
          <a:noFill/>
        </p:spPr>
        <p:txBody>
          <a:bodyPr wrap="square" rtlCol="0">
            <a:spAutoFit/>
          </a:bodyPr>
          <a:lstStyle/>
          <a:p>
            <a:r>
              <a:rPr lang="en-IN" dirty="0"/>
              <a:t>2</a:t>
            </a:r>
          </a:p>
        </p:txBody>
      </p:sp>
    </p:spTree>
    <p:extLst>
      <p:ext uri="{BB962C8B-B14F-4D97-AF65-F5344CB8AC3E}">
        <p14:creationId xmlns:p14="http://schemas.microsoft.com/office/powerpoint/2010/main" val="527694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1E741-C313-FE99-DB43-9E667B4ADBC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60316EB-8E83-0B6E-2C71-7831A1CA34E4}"/>
              </a:ext>
            </a:extLst>
          </p:cNvPr>
          <p:cNvSpPr/>
          <p:nvPr/>
        </p:nvSpPr>
        <p:spPr>
          <a:xfrm>
            <a:off x="1035117" y="334296"/>
            <a:ext cx="6378405" cy="875017"/>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1AEFF24C-83DC-FA20-F83E-10D1C5031534}"/>
              </a:ext>
            </a:extLst>
          </p:cNvPr>
          <p:cNvSpPr>
            <a:spLocks noGrp="1"/>
          </p:cNvSpPr>
          <p:nvPr>
            <p:ph type="ctrTitle"/>
          </p:nvPr>
        </p:nvSpPr>
        <p:spPr>
          <a:xfrm>
            <a:off x="1035117" y="334296"/>
            <a:ext cx="7766936" cy="875017"/>
          </a:xfrm>
        </p:spPr>
        <p:txBody>
          <a:bodyPr/>
          <a:lstStyle/>
          <a:p>
            <a:pPr algn="l"/>
            <a:r>
              <a:rPr lang="en-IN" b="1" dirty="0">
                <a:solidFill>
                  <a:schemeClr val="tx2"/>
                </a:solidFill>
                <a:latin typeface="Arial" panose="020B0604020202020204" pitchFamily="34" charset="0"/>
                <a:cs typeface="Arial" panose="020B0604020202020204" pitchFamily="34" charset="0"/>
              </a:rPr>
              <a:t>Problem Statement</a:t>
            </a:r>
          </a:p>
        </p:txBody>
      </p:sp>
      <p:sp>
        <p:nvSpPr>
          <p:cNvPr id="3" name="Subtitle 2">
            <a:extLst>
              <a:ext uri="{FF2B5EF4-FFF2-40B4-BE49-F238E27FC236}">
                <a16:creationId xmlns:a16="http://schemas.microsoft.com/office/drawing/2014/main" id="{D0DC12FE-CBD0-485C-8906-DB5F34EF2A63}"/>
              </a:ext>
            </a:extLst>
          </p:cNvPr>
          <p:cNvSpPr>
            <a:spLocks noGrp="1"/>
          </p:cNvSpPr>
          <p:nvPr>
            <p:ph type="subTitle" idx="1"/>
          </p:nvPr>
        </p:nvSpPr>
        <p:spPr>
          <a:xfrm>
            <a:off x="1035117" y="1936953"/>
            <a:ext cx="8728316" cy="4178710"/>
          </a:xfrm>
        </p:spPr>
        <p:txBody>
          <a:bodyPr>
            <a:normAutofit fontScale="70000" lnSpcReduction="20000"/>
          </a:bodyPr>
          <a:lstStyle/>
          <a:p>
            <a:pPr marL="457200" indent="-457200" algn="l">
              <a:lnSpc>
                <a:spcPct val="120000"/>
              </a:lnSpc>
              <a:buClr>
                <a:schemeClr val="tx1"/>
              </a:buClr>
              <a:buFont typeface="Wingdings" panose="05000000000000000000" pitchFamily="2" charset="2"/>
              <a:buChar char="Ø"/>
            </a:pPr>
            <a:r>
              <a:rPr lang="en-US" sz="2800" dirty="0">
                <a:solidFill>
                  <a:schemeClr val="tx1"/>
                </a:solidFill>
                <a:latin typeface="Arial" panose="020B0604020202020204" pitchFamily="34" charset="0"/>
                <a:cs typeface="Arial" panose="020B0604020202020204" pitchFamily="34" charset="0"/>
              </a:rPr>
              <a:t>Cancer detection is critical for saving lives, but traditional diagnosis methods are often time-consuming and dependent on expert analysis.</a:t>
            </a:r>
            <a:br>
              <a:rPr lang="en-US" sz="2800" dirty="0">
                <a:solidFill>
                  <a:schemeClr val="tx1"/>
                </a:solidFill>
                <a:latin typeface="Arial" panose="020B0604020202020204" pitchFamily="34" charset="0"/>
                <a:cs typeface="Arial" panose="020B0604020202020204" pitchFamily="34" charset="0"/>
              </a:rPr>
            </a:br>
            <a:r>
              <a:rPr lang="en-US" sz="2800" dirty="0">
                <a:solidFill>
                  <a:schemeClr val="tx1"/>
                </a:solidFill>
                <a:latin typeface="Arial" panose="020B0604020202020204" pitchFamily="34" charset="0"/>
                <a:cs typeface="Arial" panose="020B0604020202020204" pitchFamily="34" charset="0"/>
              </a:rPr>
              <a:t>This can lead to delays and possible human errors in early-stage identification.</a:t>
            </a:r>
          </a:p>
          <a:p>
            <a:pPr marL="457200" indent="-457200" algn="l">
              <a:lnSpc>
                <a:spcPct val="120000"/>
              </a:lnSpc>
              <a:buClr>
                <a:schemeClr val="tx1"/>
              </a:buClr>
              <a:buFont typeface="Wingdings" panose="05000000000000000000" pitchFamily="2" charset="2"/>
              <a:buChar char="Ø"/>
            </a:pPr>
            <a:r>
              <a:rPr lang="en-US" sz="2800" dirty="0">
                <a:solidFill>
                  <a:schemeClr val="tx1"/>
                </a:solidFill>
                <a:latin typeface="Arial" panose="020B0604020202020204" pitchFamily="34" charset="0"/>
                <a:cs typeface="Arial" panose="020B0604020202020204" pitchFamily="34" charset="0"/>
              </a:rPr>
              <a:t>Large volumes of medical data make manual analysis difficult and inefficient for accurate decision-making.</a:t>
            </a:r>
            <a:br>
              <a:rPr lang="en-US" sz="2800" dirty="0">
                <a:solidFill>
                  <a:schemeClr val="tx1"/>
                </a:solidFill>
                <a:latin typeface="Arial" panose="020B0604020202020204" pitchFamily="34" charset="0"/>
                <a:cs typeface="Arial" panose="020B0604020202020204" pitchFamily="34" charset="0"/>
              </a:rPr>
            </a:br>
            <a:r>
              <a:rPr lang="en-US" sz="2800" dirty="0">
                <a:solidFill>
                  <a:schemeClr val="tx1"/>
                </a:solidFill>
                <a:latin typeface="Arial" panose="020B0604020202020204" pitchFamily="34" charset="0"/>
                <a:cs typeface="Arial" panose="020B0604020202020204" pitchFamily="34" charset="0"/>
              </a:rPr>
              <a:t>There is a need for automated systems to process and interpret this data effectively.</a:t>
            </a:r>
          </a:p>
          <a:p>
            <a:pPr marL="457200" indent="-457200" algn="l">
              <a:lnSpc>
                <a:spcPct val="120000"/>
              </a:lnSpc>
              <a:buClr>
                <a:schemeClr val="tx1"/>
              </a:buClr>
              <a:buFont typeface="Wingdings" panose="05000000000000000000" pitchFamily="2" charset="2"/>
              <a:buChar char="Ø"/>
            </a:pPr>
            <a:r>
              <a:rPr lang="en-US" sz="2800" dirty="0">
                <a:solidFill>
                  <a:schemeClr val="tx1"/>
                </a:solidFill>
                <a:latin typeface="Arial" panose="020B0604020202020204" pitchFamily="34" charset="0"/>
                <a:cs typeface="Arial" panose="020B0604020202020204" pitchFamily="34" charset="0"/>
              </a:rPr>
              <a:t>Machine Learning can help in predicting cancer by analyzing patterns in medical datasets.</a:t>
            </a:r>
            <a:br>
              <a:rPr lang="en-US" sz="2800" dirty="0">
                <a:solidFill>
                  <a:schemeClr val="tx1"/>
                </a:solidFill>
                <a:latin typeface="Arial" panose="020B0604020202020204" pitchFamily="34" charset="0"/>
                <a:cs typeface="Arial" panose="020B0604020202020204" pitchFamily="34" charset="0"/>
              </a:rPr>
            </a:br>
            <a:r>
              <a:rPr lang="en-US" sz="2800" dirty="0">
                <a:solidFill>
                  <a:schemeClr val="tx1"/>
                </a:solidFill>
                <a:latin typeface="Arial" panose="020B0604020202020204" pitchFamily="34" charset="0"/>
                <a:cs typeface="Arial" panose="020B0604020202020204" pitchFamily="34" charset="0"/>
              </a:rPr>
              <a:t>It provides faster, more accurate, and reliable results compared to manual methods.</a:t>
            </a:r>
            <a:endParaRPr lang="en-IN" sz="2800" dirty="0">
              <a:solidFill>
                <a:schemeClr val="tx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F211895-B599-6911-6B64-75CE7A58B81F}"/>
              </a:ext>
            </a:extLst>
          </p:cNvPr>
          <p:cNvSpPr txBox="1"/>
          <p:nvPr/>
        </p:nvSpPr>
        <p:spPr>
          <a:xfrm>
            <a:off x="11825313" y="6410632"/>
            <a:ext cx="442452" cy="369332"/>
          </a:xfrm>
          <a:prstGeom prst="rect">
            <a:avLst/>
          </a:prstGeom>
          <a:noFill/>
        </p:spPr>
        <p:txBody>
          <a:bodyPr wrap="square" rtlCol="0">
            <a:spAutoFit/>
          </a:bodyPr>
          <a:lstStyle/>
          <a:p>
            <a:r>
              <a:rPr lang="en-IN" dirty="0"/>
              <a:t>3</a:t>
            </a:r>
          </a:p>
        </p:txBody>
      </p:sp>
    </p:spTree>
    <p:extLst>
      <p:ext uri="{BB962C8B-B14F-4D97-AF65-F5344CB8AC3E}">
        <p14:creationId xmlns:p14="http://schemas.microsoft.com/office/powerpoint/2010/main" val="2707456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8263BB1-761E-FD7D-A853-F45D06DAAA28}"/>
              </a:ext>
            </a:extLst>
          </p:cNvPr>
          <p:cNvSpPr/>
          <p:nvPr/>
        </p:nvSpPr>
        <p:spPr>
          <a:xfrm>
            <a:off x="1162938" y="393289"/>
            <a:ext cx="3340236" cy="796359"/>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BF8ED91-5853-AF0E-2CC0-802C4C582E87}"/>
              </a:ext>
            </a:extLst>
          </p:cNvPr>
          <p:cNvSpPr>
            <a:spLocks noGrp="1"/>
          </p:cNvSpPr>
          <p:nvPr>
            <p:ph type="ctrTitle"/>
          </p:nvPr>
        </p:nvSpPr>
        <p:spPr>
          <a:xfrm>
            <a:off x="1162938" y="393289"/>
            <a:ext cx="7766936" cy="796359"/>
          </a:xfrm>
        </p:spPr>
        <p:txBody>
          <a:bodyPr/>
          <a:lstStyle/>
          <a:p>
            <a:pPr algn="l"/>
            <a:r>
              <a:rPr lang="en-IN" b="1" dirty="0">
                <a:solidFill>
                  <a:schemeClr val="tx2"/>
                </a:solidFill>
                <a:latin typeface="Arial" panose="020B0604020202020204" pitchFamily="34" charset="0"/>
                <a:cs typeface="Arial" panose="020B0604020202020204" pitchFamily="34" charset="0"/>
              </a:rPr>
              <a:t>Objective</a:t>
            </a:r>
          </a:p>
        </p:txBody>
      </p:sp>
      <p:sp>
        <p:nvSpPr>
          <p:cNvPr id="3" name="Subtitle 2">
            <a:extLst>
              <a:ext uri="{FF2B5EF4-FFF2-40B4-BE49-F238E27FC236}">
                <a16:creationId xmlns:a16="http://schemas.microsoft.com/office/drawing/2014/main" id="{213DBA6B-24F9-D679-8A8C-D3E3443EB925}"/>
              </a:ext>
            </a:extLst>
          </p:cNvPr>
          <p:cNvSpPr>
            <a:spLocks noGrp="1"/>
          </p:cNvSpPr>
          <p:nvPr>
            <p:ph type="subTitle" idx="1"/>
          </p:nvPr>
        </p:nvSpPr>
        <p:spPr>
          <a:xfrm>
            <a:off x="1162938" y="1740312"/>
            <a:ext cx="9023281" cy="4930878"/>
          </a:xfrm>
        </p:spPr>
        <p:txBody>
          <a:bodyPr>
            <a:noAutofit/>
          </a:bodyPr>
          <a:lstStyle/>
          <a:p>
            <a:pPr marL="571500" lvl="0" indent="-571500" algn="l">
              <a:buClr>
                <a:schemeClr val="tx1"/>
              </a:buClr>
              <a:buFont typeface="Wingdings" panose="05000000000000000000" pitchFamily="2" charset="2"/>
              <a:buChar char="Ø"/>
            </a:pPr>
            <a:r>
              <a:rPr lang="en-US" sz="2400" b="1" dirty="0">
                <a:solidFill>
                  <a:schemeClr val="tx1"/>
                </a:solidFill>
                <a:latin typeface="Arial" panose="020B0604020202020204" pitchFamily="34" charset="0"/>
                <a:cs typeface="Arial" panose="020B0604020202020204" pitchFamily="34" charset="0"/>
              </a:rPr>
              <a:t>Primary Goal:</a:t>
            </a:r>
            <a:r>
              <a:rPr lang="en-US" sz="2400" dirty="0">
                <a:solidFill>
                  <a:schemeClr val="tx1"/>
                </a:solidFill>
                <a:latin typeface="Arial" panose="020B0604020202020204" pitchFamily="34" charset="0"/>
                <a:cs typeface="Arial" panose="020B0604020202020204" pitchFamily="34" charset="0"/>
              </a:rPr>
              <a:t> To engineer a functional diagnostic engine using Ensemble Learning to classify tumors with clinical-grade accuracy.</a:t>
            </a:r>
          </a:p>
          <a:p>
            <a:pPr marL="571500" lvl="0" indent="-571500" algn="l">
              <a:buClr>
                <a:schemeClr val="tx1"/>
              </a:buClr>
              <a:buFont typeface="Wingdings" panose="05000000000000000000" pitchFamily="2" charset="2"/>
              <a:buChar char="Ø"/>
            </a:pPr>
            <a:r>
              <a:rPr lang="en-US" sz="2400" b="1" dirty="0">
                <a:solidFill>
                  <a:schemeClr val="tx1"/>
                </a:solidFill>
                <a:latin typeface="Arial" panose="020B0604020202020204" pitchFamily="34" charset="0"/>
                <a:cs typeface="Arial" panose="020B0604020202020204" pitchFamily="34" charset="0"/>
              </a:rPr>
              <a:t>Reliability Target:</a:t>
            </a:r>
            <a:r>
              <a:rPr lang="en-US" sz="2400" dirty="0">
                <a:solidFill>
                  <a:schemeClr val="tx1"/>
                </a:solidFill>
                <a:latin typeface="Arial" panose="020B0604020202020204" pitchFamily="34" charset="0"/>
                <a:cs typeface="Arial" panose="020B0604020202020204" pitchFamily="34" charset="0"/>
              </a:rPr>
              <a:t> To minimize the "Type II Error" (False Negatives) to 0.0% using optimized algorithms.</a:t>
            </a:r>
          </a:p>
          <a:p>
            <a:pPr marL="571500" lvl="0" indent="-571500" algn="l">
              <a:buClr>
                <a:schemeClr val="tx1"/>
              </a:buClr>
              <a:buFont typeface="Wingdings" panose="05000000000000000000" pitchFamily="2" charset="2"/>
              <a:buChar char="Ø"/>
            </a:pPr>
            <a:r>
              <a:rPr lang="en-US" sz="2400" b="1" dirty="0">
                <a:solidFill>
                  <a:schemeClr val="tx1"/>
                </a:solidFill>
                <a:latin typeface="Arial" panose="020B0604020202020204" pitchFamily="34" charset="0"/>
                <a:cs typeface="Arial" panose="020B0604020202020204" pitchFamily="34" charset="0"/>
              </a:rPr>
              <a:t>Technical Benchmarking:</a:t>
            </a:r>
            <a:r>
              <a:rPr lang="en-US" sz="2400" dirty="0">
                <a:solidFill>
                  <a:schemeClr val="tx1"/>
                </a:solidFill>
                <a:latin typeface="Arial" panose="020B0604020202020204" pitchFamily="34" charset="0"/>
                <a:cs typeface="Arial" panose="020B0604020202020204" pitchFamily="34" charset="0"/>
              </a:rPr>
              <a:t> To compare SVC, Random Forest, and </a:t>
            </a:r>
            <a:r>
              <a:rPr lang="en-US" sz="2400" dirty="0" err="1">
                <a:solidFill>
                  <a:schemeClr val="tx1"/>
                </a:solidFill>
                <a:latin typeface="Arial" panose="020B0604020202020204" pitchFamily="34" charset="0"/>
                <a:cs typeface="Arial" panose="020B0604020202020204" pitchFamily="34" charset="0"/>
              </a:rPr>
              <a:t>XGBoost</a:t>
            </a:r>
            <a:r>
              <a:rPr lang="en-US" sz="2400" dirty="0">
                <a:solidFill>
                  <a:schemeClr val="tx1"/>
                </a:solidFill>
                <a:latin typeface="Arial" panose="020B0604020202020204" pitchFamily="34" charset="0"/>
                <a:cs typeface="Arial" panose="020B0604020202020204" pitchFamily="34" charset="0"/>
              </a:rPr>
              <a:t> to identify the most stable architecture for medical feature sets.</a:t>
            </a:r>
          </a:p>
          <a:p>
            <a:pPr marL="571500" lvl="0" indent="-571500" algn="l">
              <a:buClr>
                <a:schemeClr val="tx1"/>
              </a:buClr>
              <a:buFont typeface="Wingdings" panose="05000000000000000000" pitchFamily="2" charset="2"/>
              <a:buChar char="Ø"/>
            </a:pPr>
            <a:r>
              <a:rPr lang="en-US" sz="2400" b="1" dirty="0">
                <a:solidFill>
                  <a:schemeClr val="tx1"/>
                </a:solidFill>
                <a:latin typeface="Arial" panose="020B0604020202020204" pitchFamily="34" charset="0"/>
                <a:cs typeface="Arial" panose="020B0604020202020204" pitchFamily="34" charset="0"/>
              </a:rPr>
              <a:t>Deployment Readiness:</a:t>
            </a:r>
            <a:r>
              <a:rPr lang="en-US" sz="2400" dirty="0">
                <a:solidFill>
                  <a:schemeClr val="tx1"/>
                </a:solidFill>
                <a:latin typeface="Arial" panose="020B0604020202020204" pitchFamily="34" charset="0"/>
                <a:cs typeface="Arial" panose="020B0604020202020204" pitchFamily="34" charset="0"/>
              </a:rPr>
              <a:t> To provide a Serialized Working Model (.</a:t>
            </a:r>
            <a:r>
              <a:rPr lang="en-US" sz="2400" dirty="0" err="1">
                <a:solidFill>
                  <a:schemeClr val="tx1"/>
                </a:solidFill>
                <a:latin typeface="Arial" panose="020B0604020202020204" pitchFamily="34" charset="0"/>
                <a:cs typeface="Arial" panose="020B0604020202020204" pitchFamily="34" charset="0"/>
              </a:rPr>
              <a:t>pkl</a:t>
            </a:r>
            <a:r>
              <a:rPr lang="en-US" sz="2400" dirty="0">
                <a:solidFill>
                  <a:schemeClr val="tx1"/>
                </a:solidFill>
                <a:latin typeface="Arial" panose="020B0604020202020204" pitchFamily="34" charset="0"/>
                <a:cs typeface="Arial" panose="020B0604020202020204" pitchFamily="34" charset="0"/>
              </a:rPr>
              <a:t>) that can be integrated into hospital management software immediately</a:t>
            </a:r>
            <a:r>
              <a:rPr lang="en-US" sz="2000" dirty="0">
                <a:solidFill>
                  <a:schemeClr val="tx1"/>
                </a:solidFill>
                <a:latin typeface="Arial" panose="020B0604020202020204" pitchFamily="34" charset="0"/>
                <a:cs typeface="Arial" panose="020B0604020202020204" pitchFamily="34" charset="0"/>
              </a:rPr>
              <a:t>.</a:t>
            </a:r>
            <a:endParaRPr lang="en-IN" sz="2000" dirty="0">
              <a:solidFill>
                <a:schemeClr val="tx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4B9F7D6-C43D-5007-B795-B5A74A35AB7F}"/>
              </a:ext>
            </a:extLst>
          </p:cNvPr>
          <p:cNvSpPr txBox="1"/>
          <p:nvPr/>
        </p:nvSpPr>
        <p:spPr>
          <a:xfrm>
            <a:off x="11825313" y="6410632"/>
            <a:ext cx="442452" cy="369332"/>
          </a:xfrm>
          <a:prstGeom prst="rect">
            <a:avLst/>
          </a:prstGeom>
          <a:noFill/>
        </p:spPr>
        <p:txBody>
          <a:bodyPr wrap="square" rtlCol="0">
            <a:spAutoFit/>
          </a:bodyPr>
          <a:lstStyle/>
          <a:p>
            <a:r>
              <a:rPr lang="en-IN" dirty="0"/>
              <a:t>4</a:t>
            </a:r>
          </a:p>
        </p:txBody>
      </p:sp>
    </p:spTree>
    <p:extLst>
      <p:ext uri="{BB962C8B-B14F-4D97-AF65-F5344CB8AC3E}">
        <p14:creationId xmlns:p14="http://schemas.microsoft.com/office/powerpoint/2010/main" val="345815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A85F02A-C733-B857-9BCF-D1E1F32C9EC1}"/>
              </a:ext>
            </a:extLst>
          </p:cNvPr>
          <p:cNvSpPr/>
          <p:nvPr/>
        </p:nvSpPr>
        <p:spPr>
          <a:xfrm>
            <a:off x="1091381" y="294967"/>
            <a:ext cx="6794091" cy="825855"/>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B2E93ED2-16E8-222D-DEBF-A867A4696B63}"/>
              </a:ext>
            </a:extLst>
          </p:cNvPr>
          <p:cNvSpPr>
            <a:spLocks noGrp="1"/>
          </p:cNvSpPr>
          <p:nvPr>
            <p:ph type="ctrTitle"/>
          </p:nvPr>
        </p:nvSpPr>
        <p:spPr>
          <a:xfrm>
            <a:off x="1091382" y="294967"/>
            <a:ext cx="6794090" cy="825855"/>
          </a:xfrm>
        </p:spPr>
        <p:txBody>
          <a:bodyPr/>
          <a:lstStyle/>
          <a:p>
            <a:pPr algn="l">
              <a:lnSpc>
                <a:spcPct val="150000"/>
              </a:lnSpc>
              <a:buClr>
                <a:schemeClr val="tx1"/>
              </a:buClr>
            </a:pPr>
            <a:r>
              <a:rPr lang="en-US" dirty="0">
                <a:solidFill>
                  <a:schemeClr val="tx1"/>
                </a:solidFill>
                <a:latin typeface="Arial" panose="020B0604020202020204" pitchFamily="34" charset="0"/>
                <a:cs typeface="Arial" panose="020B0604020202020204" pitchFamily="34" charset="0"/>
              </a:rPr>
              <a:t>Dataset Description </a:t>
            </a:r>
          </a:p>
        </p:txBody>
      </p:sp>
      <p:sp>
        <p:nvSpPr>
          <p:cNvPr id="6" name="Rectangle 2">
            <a:extLst>
              <a:ext uri="{FF2B5EF4-FFF2-40B4-BE49-F238E27FC236}">
                <a16:creationId xmlns:a16="http://schemas.microsoft.com/office/drawing/2014/main" id="{C91ED2F5-4869-C4EB-6C58-3ABD949D0AA1}"/>
              </a:ext>
            </a:extLst>
          </p:cNvPr>
          <p:cNvSpPr>
            <a:spLocks noGrp="1" noChangeArrowheads="1"/>
          </p:cNvSpPr>
          <p:nvPr>
            <p:ph type="subTitle" idx="1"/>
          </p:nvPr>
        </p:nvSpPr>
        <p:spPr bwMode="auto">
          <a:xfrm>
            <a:off x="1091381" y="1444200"/>
            <a:ext cx="9173496" cy="51140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l" defTabSz="914400" eaLnBrk="0" fontAlgn="base" hangingPunct="0">
              <a:lnSpc>
                <a:spcPct val="150000"/>
              </a:lnSpc>
              <a:spcBef>
                <a:spcPct val="0"/>
              </a:spcBef>
              <a:spcAft>
                <a:spcPct val="0"/>
              </a:spcAft>
              <a:buClrTx/>
              <a:buSzTx/>
              <a:buFont typeface="Wingdings" panose="05000000000000000000" pitchFamily="2" charset="2"/>
              <a:buChar char="Ø"/>
            </a:pPr>
            <a:r>
              <a:rPr lang="en-US" sz="2000" b="1" dirty="0">
                <a:solidFill>
                  <a:schemeClr val="tx1"/>
                </a:solidFill>
                <a:latin typeface="Arial" panose="020B0604020202020204" pitchFamily="34" charset="0"/>
                <a:cs typeface="Arial" panose="020B0604020202020204" pitchFamily="34" charset="0"/>
              </a:rPr>
              <a:t>Source:</a:t>
            </a:r>
            <a:r>
              <a:rPr lang="en-US" sz="2000" dirty="0">
                <a:solidFill>
                  <a:schemeClr val="tx1"/>
                </a:solidFill>
                <a:latin typeface="Arial" panose="020B0604020202020204" pitchFamily="34" charset="0"/>
                <a:cs typeface="Arial" panose="020B0604020202020204" pitchFamily="34" charset="0"/>
              </a:rPr>
              <a:t> UCI Machine Learning Repository (Wisconsin Diagnostic Breast Cancer dataset)</a:t>
            </a:r>
          </a:p>
          <a:p>
            <a:pPr marL="342900" lvl="0" indent="-342900" algn="l" defTabSz="914400" eaLnBrk="0" fontAlgn="base" hangingPunct="0">
              <a:lnSpc>
                <a:spcPct val="150000"/>
              </a:lnSpc>
              <a:spcBef>
                <a:spcPct val="0"/>
              </a:spcBef>
              <a:spcAft>
                <a:spcPct val="0"/>
              </a:spcAft>
              <a:buClrTx/>
              <a:buSzTx/>
              <a:buFont typeface="Wingdings" panose="05000000000000000000" pitchFamily="2" charset="2"/>
              <a:buChar char="Ø"/>
            </a:pPr>
            <a:r>
              <a:rPr lang="en-IN" sz="2000" b="1" dirty="0">
                <a:solidFill>
                  <a:schemeClr val="tx1"/>
                </a:solidFill>
              </a:rPr>
              <a:t>Sample Size</a:t>
            </a:r>
            <a:r>
              <a:rPr lang="en-US" sz="2000" b="1" dirty="0">
                <a:solidFill>
                  <a:schemeClr val="tx1"/>
                </a:solidFill>
                <a:latin typeface="Arial" panose="020B0604020202020204" pitchFamily="34" charset="0"/>
                <a:cs typeface="Arial" panose="020B0604020202020204" pitchFamily="34" charset="0"/>
              </a:rPr>
              <a:t>:</a:t>
            </a:r>
            <a:r>
              <a:rPr lang="en-US" sz="2000" dirty="0">
                <a:solidFill>
                  <a:schemeClr val="tx1"/>
                </a:solidFill>
                <a:latin typeface="Arial" panose="020B0604020202020204" pitchFamily="34" charset="0"/>
                <a:cs typeface="Arial" panose="020B0604020202020204" pitchFamily="34" charset="0"/>
              </a:rPr>
              <a:t> 569 instances with 30 clinical features.</a:t>
            </a:r>
            <a:r>
              <a:rPr kumimoji="0" lang="en-US" altLang="en-US" sz="19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t>
            </a:r>
          </a:p>
          <a:p>
            <a:pPr marL="342900" lvl="0" indent="-342900" algn="l" defTabSz="914400" eaLnBrk="0" fontAlgn="base" hangingPunct="0">
              <a:lnSpc>
                <a:spcPct val="150000"/>
              </a:lnSpc>
              <a:spcBef>
                <a:spcPct val="0"/>
              </a:spcBef>
              <a:spcAft>
                <a:spcPct val="0"/>
              </a:spcAft>
              <a:buClrTx/>
              <a:buSzTx/>
              <a:buFont typeface="Wingdings" panose="05000000000000000000" pitchFamily="2" charset="2"/>
              <a:buChar char="Ø"/>
            </a:pPr>
            <a:r>
              <a:rPr lang="en-US" sz="2000" b="1" dirty="0">
                <a:solidFill>
                  <a:schemeClr val="tx1"/>
                </a:solidFill>
              </a:rPr>
              <a:t>Feature Set:</a:t>
            </a:r>
            <a:r>
              <a:rPr lang="en-US" sz="2000" dirty="0">
                <a:solidFill>
                  <a:schemeClr val="tx1"/>
                </a:solidFill>
              </a:rPr>
              <a:t> 30 real-valued clinical features computed from a digitized image of a fine needle aspirate (FNA) of a breast mass.</a:t>
            </a:r>
          </a:p>
          <a:p>
            <a:pPr marL="342900" lvl="0" indent="-342900" algn="l" defTabSz="914400" eaLnBrk="0" fontAlgn="base" hangingPunct="0">
              <a:lnSpc>
                <a:spcPct val="150000"/>
              </a:lnSpc>
              <a:spcBef>
                <a:spcPct val="0"/>
              </a:spcBef>
              <a:spcAft>
                <a:spcPct val="0"/>
              </a:spcAft>
              <a:buClrTx/>
              <a:buSzTx/>
              <a:buFont typeface="Wingdings" panose="05000000000000000000" pitchFamily="2" charset="2"/>
              <a:buChar char="Ø"/>
            </a:pPr>
            <a:r>
              <a:rPr lang="en-US" sz="2000" b="1" dirty="0">
                <a:solidFill>
                  <a:schemeClr val="tx1"/>
                </a:solidFill>
              </a:rPr>
              <a:t>Key Attributes:</a:t>
            </a:r>
            <a:r>
              <a:rPr lang="en-US" sz="2000" dirty="0">
                <a:solidFill>
                  <a:schemeClr val="tx1"/>
                </a:solidFill>
              </a:rPr>
              <a:t> </a:t>
            </a:r>
          </a:p>
          <a:p>
            <a:pPr lvl="0" algn="l" defTabSz="914400" eaLnBrk="0" fontAlgn="base" hangingPunct="0">
              <a:lnSpc>
                <a:spcPct val="150000"/>
              </a:lnSpc>
              <a:spcBef>
                <a:spcPct val="0"/>
              </a:spcBef>
              <a:spcAft>
                <a:spcPct val="0"/>
              </a:spcAft>
              <a:buClrTx/>
              <a:buSzTx/>
            </a:pPr>
            <a:r>
              <a:rPr lang="en-US" sz="2000" dirty="0">
                <a:solidFill>
                  <a:schemeClr val="tx1"/>
                </a:solidFill>
              </a:rPr>
              <a:t>    </a:t>
            </a:r>
            <a:r>
              <a:rPr lang="en-US" sz="2000" b="1" dirty="0">
                <a:solidFill>
                  <a:schemeClr val="tx1"/>
                </a:solidFill>
              </a:rPr>
              <a:t>Geometric:</a:t>
            </a:r>
            <a:r>
              <a:rPr lang="en-US" sz="2000" dirty="0">
                <a:solidFill>
                  <a:schemeClr val="tx1"/>
                </a:solidFill>
              </a:rPr>
              <a:t> Radius, Perimeter, Area.</a:t>
            </a:r>
          </a:p>
          <a:p>
            <a:pPr lvl="0" algn="l" defTabSz="914400" eaLnBrk="0" fontAlgn="base" hangingPunct="0">
              <a:lnSpc>
                <a:spcPct val="150000"/>
              </a:lnSpc>
              <a:spcBef>
                <a:spcPct val="0"/>
              </a:spcBef>
              <a:spcAft>
                <a:spcPct val="0"/>
              </a:spcAft>
              <a:buClrTx/>
              <a:buSzTx/>
            </a:pPr>
            <a:r>
              <a:rPr lang="en-US" sz="2000" b="1" dirty="0">
                <a:solidFill>
                  <a:schemeClr val="tx1"/>
                </a:solidFill>
              </a:rPr>
              <a:t>    Texture:</a:t>
            </a:r>
            <a:r>
              <a:rPr lang="en-US" sz="2000" dirty="0">
                <a:solidFill>
                  <a:schemeClr val="tx1"/>
                </a:solidFill>
              </a:rPr>
              <a:t> Gray-scale value distribution.</a:t>
            </a:r>
          </a:p>
          <a:p>
            <a:pPr lvl="0" algn="l" defTabSz="914400" eaLnBrk="0" fontAlgn="base" hangingPunct="0">
              <a:lnSpc>
                <a:spcPct val="150000"/>
              </a:lnSpc>
              <a:spcBef>
                <a:spcPct val="0"/>
              </a:spcBef>
              <a:spcAft>
                <a:spcPct val="0"/>
              </a:spcAft>
              <a:buClrTx/>
              <a:buSzTx/>
            </a:pPr>
            <a:r>
              <a:rPr lang="en-US" sz="2000" b="1" dirty="0">
                <a:solidFill>
                  <a:schemeClr val="tx1"/>
                </a:solidFill>
              </a:rPr>
              <a:t>    Shape:</a:t>
            </a:r>
            <a:r>
              <a:rPr lang="en-US" sz="2000" dirty="0">
                <a:solidFill>
                  <a:schemeClr val="tx1"/>
                </a:solidFill>
              </a:rPr>
              <a:t> Compactness, Concavity points, Symmetry, Fractal dimension.</a:t>
            </a:r>
          </a:p>
          <a:p>
            <a:pPr marL="342900" lvl="0" indent="-342900" algn="l" defTabSz="914400" eaLnBrk="0" fontAlgn="base" hangingPunct="0">
              <a:lnSpc>
                <a:spcPct val="150000"/>
              </a:lnSpc>
              <a:spcBef>
                <a:spcPct val="0"/>
              </a:spcBef>
              <a:spcAft>
                <a:spcPct val="0"/>
              </a:spcAft>
              <a:buClrTx/>
              <a:buSzTx/>
              <a:buFont typeface="Wingdings" panose="05000000000000000000" pitchFamily="2" charset="2"/>
              <a:buChar char="Ø"/>
            </a:pPr>
            <a:r>
              <a:rPr lang="en-US" sz="2000" b="1" dirty="0">
                <a:solidFill>
                  <a:schemeClr val="tx1"/>
                </a:solidFill>
              </a:rPr>
              <a:t>Scale:</a:t>
            </a:r>
            <a:r>
              <a:rPr lang="en-US" sz="2000" dirty="0">
                <a:solidFill>
                  <a:schemeClr val="tx1"/>
                </a:solidFill>
              </a:rPr>
              <a:t> Features represent the Mean, Standard Error, and "Worst" (mean of the three largest values) for each image.</a:t>
            </a:r>
            <a:endParaRPr kumimoji="0" lang="en-US" altLang="en-US" sz="19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BA1C753-9690-6073-4AD7-3CE579FA28AF}"/>
              </a:ext>
            </a:extLst>
          </p:cNvPr>
          <p:cNvSpPr txBox="1"/>
          <p:nvPr/>
        </p:nvSpPr>
        <p:spPr>
          <a:xfrm>
            <a:off x="11825313" y="6410632"/>
            <a:ext cx="442452" cy="369332"/>
          </a:xfrm>
          <a:prstGeom prst="rect">
            <a:avLst/>
          </a:prstGeom>
          <a:noFill/>
        </p:spPr>
        <p:txBody>
          <a:bodyPr wrap="square" rtlCol="0">
            <a:spAutoFit/>
          </a:bodyPr>
          <a:lstStyle/>
          <a:p>
            <a:r>
              <a:rPr lang="en-IN" dirty="0"/>
              <a:t>5</a:t>
            </a:r>
          </a:p>
        </p:txBody>
      </p:sp>
    </p:spTree>
    <p:extLst>
      <p:ext uri="{BB962C8B-B14F-4D97-AF65-F5344CB8AC3E}">
        <p14:creationId xmlns:p14="http://schemas.microsoft.com/office/powerpoint/2010/main" val="3198807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457D2-567C-2E28-3066-C8DD2E1855CB}"/>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5D6777E-271A-C024-4F68-CCE0AA10FB09}"/>
              </a:ext>
            </a:extLst>
          </p:cNvPr>
          <p:cNvSpPr/>
          <p:nvPr/>
        </p:nvSpPr>
        <p:spPr>
          <a:xfrm>
            <a:off x="1091382" y="275303"/>
            <a:ext cx="6558115" cy="825855"/>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CB2F3A7C-43F9-E328-E34C-D45B2BFC9994}"/>
              </a:ext>
            </a:extLst>
          </p:cNvPr>
          <p:cNvSpPr>
            <a:spLocks noGrp="1"/>
          </p:cNvSpPr>
          <p:nvPr>
            <p:ph type="ctrTitle"/>
          </p:nvPr>
        </p:nvSpPr>
        <p:spPr>
          <a:xfrm>
            <a:off x="1091382" y="275303"/>
            <a:ext cx="6558115" cy="825855"/>
          </a:xfrm>
        </p:spPr>
        <p:txBody>
          <a:bodyPr/>
          <a:lstStyle/>
          <a:p>
            <a:pPr algn="l"/>
            <a:r>
              <a:rPr lang="en-IN" b="1" dirty="0">
                <a:solidFill>
                  <a:schemeClr val="tx2"/>
                </a:solidFill>
              </a:rPr>
              <a:t>Design Methodology</a:t>
            </a:r>
          </a:p>
        </p:txBody>
      </p:sp>
      <p:sp>
        <p:nvSpPr>
          <p:cNvPr id="7" name="Rectangle 3">
            <a:extLst>
              <a:ext uri="{FF2B5EF4-FFF2-40B4-BE49-F238E27FC236}">
                <a16:creationId xmlns:a16="http://schemas.microsoft.com/office/drawing/2014/main" id="{6ADCC840-3B6C-319F-3BE7-733ACF8B26CD}"/>
              </a:ext>
            </a:extLst>
          </p:cNvPr>
          <p:cNvSpPr>
            <a:spLocks noGrp="1" noChangeArrowheads="1"/>
          </p:cNvSpPr>
          <p:nvPr>
            <p:ph type="subTitle" idx="1"/>
          </p:nvPr>
        </p:nvSpPr>
        <p:spPr bwMode="auto">
          <a:xfrm>
            <a:off x="1091382" y="-1632414"/>
            <a:ext cx="9420071" cy="11341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lang="en-IN" sz="1200" dirty="0"/>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lang="en-IN" sz="1200" dirty="0"/>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lang="en-IN" sz="1600" dirty="0"/>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lang="en-IN" sz="1600" dirty="0"/>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lang="en-IN" sz="1600" dirty="0"/>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lang="en-IN" sz="1600" dirty="0"/>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lang="en-IN" sz="1600" dirty="0">
              <a:latin typeface="Arial" panose="020B0604020202020204" pitchFamily="34" charset="0"/>
              <a:cs typeface="Arial" panose="020B0604020202020204" pitchFamily="34" charset="0"/>
            </a:endParaRPr>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lang="en-IN" sz="1500" b="1" dirty="0">
              <a:solidFill>
                <a:schemeClr val="tx1"/>
              </a:solidFill>
              <a:latin typeface="Arial" panose="020B0604020202020204" pitchFamily="34" charset="0"/>
              <a:cs typeface="Arial" panose="020B0604020202020204" pitchFamily="34" charset="0"/>
            </a:endParaRPr>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r>
              <a:rPr lang="en-IN" sz="1500" b="1" dirty="0">
                <a:solidFill>
                  <a:schemeClr val="tx1"/>
                </a:solidFill>
                <a:latin typeface="Arial" panose="020B0604020202020204" pitchFamily="34" charset="0"/>
                <a:cs typeface="Arial" panose="020B0604020202020204" pitchFamily="34" charset="0"/>
              </a:rPr>
              <a:t>Data Acquisition &amp; Ingestion </a:t>
            </a: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1500" dirty="0">
                <a:solidFill>
                  <a:schemeClr val="tx1"/>
                </a:solidFill>
                <a:latin typeface="Arial" panose="020B0604020202020204" pitchFamily="34" charset="0"/>
                <a:cs typeface="Arial" panose="020B0604020202020204" pitchFamily="34" charset="0"/>
              </a:rPr>
              <a:t>Ingested the UCI Breast Cancer Diagnostic dataset using the Pandas framework for high-performance data manipulation.</a:t>
            </a:r>
          </a:p>
          <a:p>
            <a:pPr marL="285750" indent="-285750" algn="l" defTabSz="914400" eaLnBrk="0" fontAlgn="base" hangingPunct="0">
              <a:lnSpc>
                <a:spcPct val="150000"/>
              </a:lnSpc>
              <a:spcBef>
                <a:spcPts val="0"/>
              </a:spcBef>
              <a:spcAft>
                <a:spcPct val="0"/>
              </a:spcAft>
              <a:buClrTx/>
              <a:buSzTx/>
              <a:buFont typeface="Wingdings" panose="05000000000000000000" pitchFamily="2" charset="2"/>
              <a:buChar char="Ø"/>
            </a:pPr>
            <a:r>
              <a:rPr lang="en-IN" sz="1500" b="1" dirty="0">
                <a:solidFill>
                  <a:schemeClr val="tx1"/>
                </a:solidFill>
                <a:latin typeface="Arial" panose="020B0604020202020204" pitchFamily="34" charset="0"/>
                <a:cs typeface="Arial" panose="020B0604020202020204" pitchFamily="34" charset="0"/>
              </a:rPr>
              <a:t>Feature Engineering &amp; Preprocessing</a:t>
            </a:r>
            <a:endParaRPr lang="en-IN" sz="1500" dirty="0">
              <a:solidFill>
                <a:schemeClr val="tx1"/>
              </a:solidFill>
              <a:latin typeface="Arial" panose="020B0604020202020204" pitchFamily="34" charset="0"/>
              <a:cs typeface="Arial" panose="020B0604020202020204" pitchFamily="34" charset="0"/>
            </a:endParaRPr>
          </a:p>
          <a:p>
            <a:pPr algn="l" defTabSz="914400" eaLnBrk="0" fontAlgn="base" hangingPunct="0">
              <a:lnSpc>
                <a:spcPct val="150000"/>
              </a:lnSpc>
              <a:spcBef>
                <a:spcPts val="0"/>
              </a:spcBef>
              <a:spcAft>
                <a:spcPct val="0"/>
              </a:spcAft>
              <a:buClrTx/>
              <a:buSzTx/>
            </a:pPr>
            <a:r>
              <a:rPr lang="en-US" sz="1500" b="1" dirty="0">
                <a:solidFill>
                  <a:schemeClr val="tx1"/>
                </a:solidFill>
                <a:latin typeface="Arial" panose="020B0604020202020204" pitchFamily="34" charset="0"/>
                <a:cs typeface="Arial" panose="020B0604020202020204" pitchFamily="34" charset="0"/>
              </a:rPr>
              <a:t>     Dimensionality Reduction : </a:t>
            </a:r>
            <a:r>
              <a:rPr lang="en-US" sz="1500" dirty="0">
                <a:solidFill>
                  <a:schemeClr val="tx1"/>
                </a:solidFill>
                <a:latin typeface="Arial" panose="020B0604020202020204" pitchFamily="34" charset="0"/>
                <a:cs typeface="Arial" panose="020B0604020202020204" pitchFamily="34" charset="0"/>
              </a:rPr>
              <a:t>Removed non-predictive attributes like ID to reduce noise.</a:t>
            </a:r>
          </a:p>
          <a:p>
            <a:pPr lvl="0" algn="l" defTabSz="914400" eaLnBrk="0" fontAlgn="base" hangingPunct="0">
              <a:lnSpc>
                <a:spcPct val="150000"/>
              </a:lnSpc>
              <a:spcBef>
                <a:spcPts val="0"/>
              </a:spcBef>
              <a:spcAft>
                <a:spcPct val="0"/>
              </a:spcAft>
              <a:buClrTx/>
              <a:buSzTx/>
            </a:pPr>
            <a:r>
              <a:rPr lang="en-US" sz="1500" b="1" dirty="0">
                <a:solidFill>
                  <a:schemeClr val="tx1"/>
                </a:solidFill>
                <a:latin typeface="Arial" panose="020B0604020202020204" pitchFamily="34" charset="0"/>
                <a:cs typeface="Arial" panose="020B0604020202020204" pitchFamily="34" charset="0"/>
              </a:rPr>
              <a:t>     Categorical Encoding:</a:t>
            </a:r>
            <a:r>
              <a:rPr lang="en-US" sz="1500" dirty="0">
                <a:solidFill>
                  <a:schemeClr val="tx1"/>
                </a:solidFill>
                <a:latin typeface="Arial" panose="020B0604020202020204" pitchFamily="34" charset="0"/>
                <a:cs typeface="Arial" panose="020B0604020202020204" pitchFamily="34" charset="0"/>
              </a:rPr>
              <a:t> Applied Label Encoding to the 'Diagnosis' target variable for</a:t>
            </a:r>
          </a:p>
          <a:p>
            <a:pPr lvl="0" algn="l" defTabSz="914400" eaLnBrk="0" fontAlgn="base" hangingPunct="0">
              <a:lnSpc>
                <a:spcPct val="150000"/>
              </a:lnSpc>
              <a:spcBef>
                <a:spcPts val="0"/>
              </a:spcBef>
              <a:spcAft>
                <a:spcPct val="0"/>
              </a:spcAft>
              <a:buClrTx/>
              <a:buSzTx/>
            </a:pPr>
            <a:r>
              <a:rPr lang="en-US" sz="1500" dirty="0">
                <a:solidFill>
                  <a:schemeClr val="tx1"/>
                </a:solidFill>
                <a:latin typeface="Arial" panose="020B0604020202020204" pitchFamily="34" charset="0"/>
                <a:cs typeface="Arial" panose="020B0604020202020204" pitchFamily="34" charset="0"/>
              </a:rPr>
              <a:t>     mathematical compatibility.</a:t>
            </a:r>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r>
              <a:rPr lang="en-IN" sz="1500" b="1" dirty="0">
                <a:solidFill>
                  <a:schemeClr val="tx1"/>
                </a:solidFill>
                <a:latin typeface="Arial" panose="020B0604020202020204" pitchFamily="34" charset="0"/>
                <a:cs typeface="Arial" panose="020B0604020202020204" pitchFamily="34" charset="0"/>
              </a:rPr>
              <a:t>Class Balancing (SMOTE) </a:t>
            </a:r>
            <a:r>
              <a:rPr kumimoji="0" lang="en-US" altLang="en-US" sz="15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lang="en-US" sz="1500" dirty="0">
                <a:solidFill>
                  <a:schemeClr val="tx1"/>
                </a:solidFill>
                <a:latin typeface="Arial" panose="020B0604020202020204" pitchFamily="34" charset="0"/>
                <a:cs typeface="Arial" panose="020B0604020202020204" pitchFamily="34" charset="0"/>
              </a:rPr>
              <a:t>Utilized Synthetic Minority Over-sampling Technique</a:t>
            </a:r>
          </a:p>
          <a:p>
            <a:pPr lvl="0" algn="l" defTabSz="914400" eaLnBrk="0" fontAlgn="base" hangingPunct="0">
              <a:lnSpc>
                <a:spcPct val="150000"/>
              </a:lnSpc>
              <a:spcBef>
                <a:spcPts val="0"/>
              </a:spcBef>
              <a:spcAft>
                <a:spcPct val="0"/>
              </a:spcAft>
              <a:buClrTx/>
              <a:buSzTx/>
            </a:pPr>
            <a:r>
              <a:rPr lang="en-US" sz="1500" dirty="0">
                <a:solidFill>
                  <a:schemeClr val="tx1"/>
                </a:solidFill>
                <a:latin typeface="Arial" panose="020B0604020202020204" pitchFamily="34" charset="0"/>
                <a:cs typeface="Arial" panose="020B0604020202020204" pitchFamily="34" charset="0"/>
              </a:rPr>
              <a:t>      (SMOTE) to handle class imbalance, ensuring a robust decision boundary for malignant </a:t>
            </a:r>
          </a:p>
          <a:p>
            <a:pPr lvl="0" algn="l" defTabSz="914400" eaLnBrk="0" fontAlgn="base" hangingPunct="0">
              <a:lnSpc>
                <a:spcPct val="150000"/>
              </a:lnSpc>
              <a:spcBef>
                <a:spcPts val="0"/>
              </a:spcBef>
              <a:spcAft>
                <a:spcPct val="0"/>
              </a:spcAft>
              <a:buClrTx/>
              <a:buSzTx/>
            </a:pPr>
            <a:r>
              <a:rPr lang="en-US" sz="1500" dirty="0">
                <a:solidFill>
                  <a:schemeClr val="tx1"/>
                </a:solidFill>
                <a:latin typeface="Arial" panose="020B0604020202020204" pitchFamily="34" charset="0"/>
                <a:cs typeface="Arial" panose="020B0604020202020204" pitchFamily="34" charset="0"/>
              </a:rPr>
              <a:t>      cases.</a:t>
            </a:r>
          </a:p>
          <a:p>
            <a:pPr marL="285750" indent="-285750" algn="l">
              <a:buClr>
                <a:schemeClr val="tx1"/>
              </a:buClr>
              <a:buFont typeface="Wingdings" panose="05000000000000000000" pitchFamily="2" charset="2"/>
              <a:buChar char="Ø"/>
            </a:pPr>
            <a:r>
              <a:rPr lang="en-US" sz="1500" b="1" dirty="0">
                <a:solidFill>
                  <a:schemeClr val="tx1"/>
                </a:solidFill>
                <a:latin typeface="Arial" panose="020B0604020202020204" pitchFamily="34" charset="0"/>
                <a:cs typeface="Arial" panose="020B0604020202020204" pitchFamily="34" charset="0"/>
              </a:rPr>
              <a:t>Data Partitioning </a:t>
            </a:r>
            <a:r>
              <a:rPr lang="en-US" altLang="en-US" sz="1500" dirty="0">
                <a:solidFill>
                  <a:schemeClr val="tx1"/>
                </a:solidFill>
                <a:latin typeface="Arial" panose="020B0604020202020204" pitchFamily="34" charset="0"/>
                <a:cs typeface="Arial" panose="020B0604020202020204" pitchFamily="34" charset="0"/>
              </a:rPr>
              <a:t>–</a:t>
            </a:r>
            <a:r>
              <a:rPr lang="en-US" sz="1500" dirty="0">
                <a:solidFill>
                  <a:schemeClr val="tx1"/>
                </a:solidFill>
                <a:latin typeface="Arial" panose="020B0604020202020204" pitchFamily="34" charset="0"/>
                <a:cs typeface="Arial" panose="020B0604020202020204" pitchFamily="34" charset="0"/>
              </a:rPr>
              <a:t> Implemented an 80:20 Train-Test Split to ensure unbiased evaluation of the model on unseen data.</a:t>
            </a:r>
          </a:p>
          <a:p>
            <a:pPr marL="285750" indent="-285750" algn="l">
              <a:buClr>
                <a:schemeClr val="tx1"/>
              </a:buClr>
              <a:buFont typeface="Wingdings" panose="05000000000000000000" pitchFamily="2" charset="2"/>
              <a:buChar char="Ø"/>
            </a:pPr>
            <a:r>
              <a:rPr lang="en-US" sz="1500" b="1" dirty="0">
                <a:solidFill>
                  <a:schemeClr val="tx1"/>
                </a:solidFill>
                <a:latin typeface="Arial" panose="020B0604020202020204" pitchFamily="34" charset="0"/>
                <a:cs typeface="Arial" panose="020B0604020202020204" pitchFamily="34" charset="0"/>
              </a:rPr>
              <a:t>Ensemble Model Architecture </a:t>
            </a:r>
            <a:r>
              <a:rPr lang="en-US" altLang="en-US" sz="1500" dirty="0">
                <a:solidFill>
                  <a:schemeClr val="tx1"/>
                </a:solidFill>
                <a:latin typeface="Arial" panose="020B0604020202020204" pitchFamily="34" charset="0"/>
                <a:cs typeface="Arial" panose="020B0604020202020204" pitchFamily="34" charset="0"/>
              </a:rPr>
              <a:t>–</a:t>
            </a:r>
            <a:r>
              <a:rPr lang="en-US" sz="1500" b="1" dirty="0">
                <a:solidFill>
                  <a:schemeClr val="tx1"/>
                </a:solidFill>
                <a:latin typeface="Arial" panose="020B0604020202020204" pitchFamily="34" charset="0"/>
                <a:cs typeface="Arial" panose="020B0604020202020204" pitchFamily="34" charset="0"/>
              </a:rPr>
              <a:t>  </a:t>
            </a:r>
            <a:r>
              <a:rPr lang="en-US" sz="1500" dirty="0">
                <a:solidFill>
                  <a:schemeClr val="tx1"/>
                </a:solidFill>
                <a:latin typeface="Arial" panose="020B0604020202020204" pitchFamily="34" charset="0"/>
                <a:cs typeface="Arial" panose="020B0604020202020204" pitchFamily="34" charset="0"/>
              </a:rPr>
              <a:t>Developed a competitive pipeline using Random Forest (Bagging), SVM (Hyperplane Optimization), and </a:t>
            </a:r>
            <a:r>
              <a:rPr lang="en-US" sz="1500" dirty="0" err="1">
                <a:solidFill>
                  <a:schemeClr val="tx1"/>
                </a:solidFill>
                <a:latin typeface="Arial" panose="020B0604020202020204" pitchFamily="34" charset="0"/>
                <a:cs typeface="Arial" panose="020B0604020202020204" pitchFamily="34" charset="0"/>
              </a:rPr>
              <a:t>XGBoost</a:t>
            </a:r>
            <a:r>
              <a:rPr lang="en-US" sz="1500" dirty="0">
                <a:solidFill>
                  <a:schemeClr val="tx1"/>
                </a:solidFill>
                <a:latin typeface="Arial" panose="020B0604020202020204" pitchFamily="34" charset="0"/>
                <a:cs typeface="Arial" panose="020B0604020202020204" pitchFamily="34" charset="0"/>
              </a:rPr>
              <a:t> (Boosting).</a:t>
            </a:r>
          </a:p>
          <a:p>
            <a:pPr marL="285750" indent="-285750" algn="l">
              <a:buClr>
                <a:schemeClr val="tx1"/>
              </a:buClr>
              <a:buFont typeface="Wingdings" panose="05000000000000000000" pitchFamily="2" charset="2"/>
              <a:buChar char="Ø"/>
            </a:pPr>
            <a:r>
              <a:rPr lang="en-IN" sz="1500" dirty="0">
                <a:solidFill>
                  <a:schemeClr val="tx1"/>
                </a:solidFill>
                <a:latin typeface="Arial" panose="020B0604020202020204" pitchFamily="34" charset="0"/>
                <a:cs typeface="Arial" panose="020B0604020202020204" pitchFamily="34" charset="0"/>
              </a:rPr>
              <a:t>Performance Validation </a:t>
            </a:r>
            <a:r>
              <a:rPr lang="en-US" altLang="en-US" sz="1500" dirty="0">
                <a:solidFill>
                  <a:schemeClr val="tx1"/>
                </a:solidFill>
                <a:latin typeface="Arial" panose="020B0604020202020204" pitchFamily="34" charset="0"/>
                <a:cs typeface="Arial" panose="020B0604020202020204" pitchFamily="34" charset="0"/>
              </a:rPr>
              <a:t>– </a:t>
            </a:r>
            <a:r>
              <a:rPr lang="en-US" sz="1500" dirty="0">
                <a:solidFill>
                  <a:schemeClr val="tx1"/>
                </a:solidFill>
                <a:latin typeface="Arial" panose="020B0604020202020204" pitchFamily="34" charset="0"/>
                <a:cs typeface="Arial" panose="020B0604020202020204" pitchFamily="34" charset="0"/>
              </a:rPr>
              <a:t>Validated the "Working Model" using Accuracy Scoring, Confusion Matrices, and detailed Classification Reports (Precision/Recall).</a:t>
            </a:r>
          </a:p>
          <a:p>
            <a:pPr marL="285750" indent="-285750" algn="l">
              <a:buClr>
                <a:schemeClr val="tx1"/>
              </a:buClr>
              <a:buFont typeface="Wingdings" panose="05000000000000000000" pitchFamily="2" charset="2"/>
              <a:buChar char="Ø"/>
            </a:pPr>
            <a:r>
              <a:rPr lang="en-IN" sz="1500" b="1" dirty="0">
                <a:solidFill>
                  <a:schemeClr val="tx1"/>
                </a:solidFill>
                <a:latin typeface="Arial" panose="020B0604020202020204" pitchFamily="34" charset="0"/>
                <a:cs typeface="Arial" panose="020B0604020202020204" pitchFamily="34" charset="0"/>
              </a:rPr>
              <a:t>Model Interpretability (XAI) </a:t>
            </a:r>
            <a:r>
              <a:rPr lang="en-US" altLang="en-US" sz="1500" dirty="0">
                <a:solidFill>
                  <a:schemeClr val="tx1"/>
                </a:solidFill>
                <a:latin typeface="Arial" panose="020B0604020202020204" pitchFamily="34" charset="0"/>
                <a:cs typeface="Arial" panose="020B0604020202020204" pitchFamily="34" charset="0"/>
              </a:rPr>
              <a:t>–  </a:t>
            </a:r>
            <a:r>
              <a:rPr lang="en-US" sz="1500" dirty="0">
                <a:solidFill>
                  <a:schemeClr val="tx1"/>
                </a:solidFill>
                <a:latin typeface="Arial" panose="020B0604020202020204" pitchFamily="34" charset="0"/>
                <a:cs typeface="Arial" panose="020B0604020202020204" pitchFamily="34" charset="0"/>
              </a:rPr>
              <a:t>Integrated SHAP (Shapley Additive Explanations) to transform the system from a 'black box' into an interpretable diagnostic tool, identifying specific morphological drivers (e.g., concave points) for clinical trust.</a:t>
            </a:r>
          </a:p>
          <a:p>
            <a:pPr marL="285750" indent="-285750" algn="l">
              <a:buClr>
                <a:schemeClr val="tx1"/>
              </a:buClr>
              <a:buFont typeface="Wingdings" panose="05000000000000000000" pitchFamily="2" charset="2"/>
              <a:buChar char="Ø"/>
            </a:pPr>
            <a:endParaRPr lang="en-US" sz="1600" dirty="0"/>
          </a:p>
          <a:p>
            <a:pPr marL="285750" indent="-285750" algn="l">
              <a:buClr>
                <a:schemeClr val="tx1"/>
              </a:buClr>
              <a:buFont typeface="Wingdings" panose="05000000000000000000" pitchFamily="2" charset="2"/>
              <a:buChar char="Ø"/>
            </a:pPr>
            <a:endParaRPr lang="en-US" dirty="0"/>
          </a:p>
          <a:p>
            <a:pPr marL="285750" indent="-285750" algn="l">
              <a:buFont typeface="Wingdings" panose="05000000000000000000" pitchFamily="2" charset="2"/>
              <a:buChar char="Ø"/>
            </a:pPr>
            <a:endParaRPr lang="en-US" dirty="0"/>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lvl="0" algn="l" defTabSz="914400" eaLnBrk="0" fontAlgn="base" hangingPunct="0">
              <a:lnSpc>
                <a:spcPct val="150000"/>
              </a:lnSpc>
              <a:spcBef>
                <a:spcPts val="0"/>
              </a:spcBef>
              <a:spcAft>
                <a:spcPct val="0"/>
              </a:spcAft>
              <a:buClrTx/>
              <a:buSzTx/>
            </a:pPr>
            <a:endParaRPr lang="en-US" altLang="en-US" b="1" dirty="0">
              <a:solidFill>
                <a:schemeClr val="tx1"/>
              </a:solidFill>
              <a:latin typeface="Arial" panose="020B0604020202020204" pitchFamily="34" charset="0"/>
            </a:endParaRPr>
          </a:p>
          <a:p>
            <a:pPr marL="285750" lvl="0" indent="-285750" algn="l" defTabSz="914400" eaLnBrk="0" fontAlgn="base" hangingPunct="0">
              <a:lnSpc>
                <a:spcPct val="150000"/>
              </a:lnSpc>
              <a:spcBef>
                <a:spcPts val="0"/>
              </a:spcBef>
              <a:spcAft>
                <a:spcPct val="0"/>
              </a:spcAft>
              <a:buClrTx/>
              <a:buSzTx/>
              <a:buFont typeface="Wingdings" panose="05000000000000000000" pitchFamily="2" charset="2"/>
              <a:buChar char="Ø"/>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lvl="0" algn="l" defTabSz="914400" eaLnBrk="0" fontAlgn="base" hangingPunct="0">
              <a:lnSpc>
                <a:spcPct val="150000"/>
              </a:lnSpc>
              <a:spcBef>
                <a:spcPts val="0"/>
              </a:spcBef>
              <a:spcAft>
                <a:spcPct val="0"/>
              </a:spcAft>
              <a:buClrTx/>
              <a:buSzTx/>
            </a:pPr>
            <a:endParaRPr lang="en-US" altLang="en-US" b="1" dirty="0">
              <a:solidFill>
                <a:schemeClr val="tx1"/>
              </a:solidFill>
              <a:latin typeface="Arial" panose="020B0604020202020204" pitchFamily="34" charset="0"/>
            </a:endParaRPr>
          </a:p>
        </p:txBody>
      </p:sp>
      <p:sp>
        <p:nvSpPr>
          <p:cNvPr id="8" name="TextBox 7">
            <a:extLst>
              <a:ext uri="{FF2B5EF4-FFF2-40B4-BE49-F238E27FC236}">
                <a16:creationId xmlns:a16="http://schemas.microsoft.com/office/drawing/2014/main" id="{776C4187-A991-BC6A-187D-74BDBF143899}"/>
              </a:ext>
            </a:extLst>
          </p:cNvPr>
          <p:cNvSpPr txBox="1"/>
          <p:nvPr/>
        </p:nvSpPr>
        <p:spPr>
          <a:xfrm>
            <a:off x="11825313" y="6410632"/>
            <a:ext cx="442452" cy="369332"/>
          </a:xfrm>
          <a:prstGeom prst="rect">
            <a:avLst/>
          </a:prstGeom>
          <a:noFill/>
        </p:spPr>
        <p:txBody>
          <a:bodyPr wrap="square" rtlCol="0">
            <a:spAutoFit/>
          </a:bodyPr>
          <a:lstStyle/>
          <a:p>
            <a:r>
              <a:rPr lang="en-IN" dirty="0"/>
              <a:t>6</a:t>
            </a:r>
          </a:p>
        </p:txBody>
      </p:sp>
    </p:spTree>
    <p:extLst>
      <p:ext uri="{BB962C8B-B14F-4D97-AF65-F5344CB8AC3E}">
        <p14:creationId xmlns:p14="http://schemas.microsoft.com/office/powerpoint/2010/main" val="41687503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C855A-2559-7381-2B01-5F101CA29F35}"/>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0B2B97AB-CF33-CA89-1998-69B5B5CC7AB2}"/>
              </a:ext>
            </a:extLst>
          </p:cNvPr>
          <p:cNvSpPr/>
          <p:nvPr/>
        </p:nvSpPr>
        <p:spPr>
          <a:xfrm>
            <a:off x="1091383" y="432618"/>
            <a:ext cx="5909185" cy="82591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E93006F8-D675-3BF8-5DCD-C9487AA101DB}"/>
              </a:ext>
            </a:extLst>
          </p:cNvPr>
          <p:cNvSpPr>
            <a:spLocks noGrp="1"/>
          </p:cNvSpPr>
          <p:nvPr>
            <p:ph type="ctrTitle"/>
          </p:nvPr>
        </p:nvSpPr>
        <p:spPr>
          <a:xfrm>
            <a:off x="1091383" y="176981"/>
            <a:ext cx="6017340" cy="1081547"/>
          </a:xfrm>
        </p:spPr>
        <p:txBody>
          <a:bodyPr/>
          <a:lstStyle/>
          <a:p>
            <a:pPr algn="l"/>
            <a:r>
              <a:rPr lang="en-IN" b="1" dirty="0">
                <a:solidFill>
                  <a:schemeClr val="tx2"/>
                </a:solidFill>
                <a:latin typeface="Arial" panose="020B0604020202020204" pitchFamily="34" charset="0"/>
                <a:cs typeface="Arial" panose="020B0604020202020204" pitchFamily="34" charset="0"/>
              </a:rPr>
              <a:t>Algorithms Used</a:t>
            </a:r>
            <a:endParaRPr lang="en-IN" b="1" dirty="0">
              <a:solidFill>
                <a:schemeClr val="tx2"/>
              </a:solidFill>
            </a:endParaRPr>
          </a:p>
        </p:txBody>
      </p:sp>
      <p:sp>
        <p:nvSpPr>
          <p:cNvPr id="7" name="Rectangle 3">
            <a:extLst>
              <a:ext uri="{FF2B5EF4-FFF2-40B4-BE49-F238E27FC236}">
                <a16:creationId xmlns:a16="http://schemas.microsoft.com/office/drawing/2014/main" id="{C65F358C-5312-BA0F-48D7-7A72196BF326}"/>
              </a:ext>
            </a:extLst>
          </p:cNvPr>
          <p:cNvSpPr>
            <a:spLocks noGrp="1" noChangeArrowheads="1"/>
          </p:cNvSpPr>
          <p:nvPr>
            <p:ph type="subTitle" idx="1"/>
          </p:nvPr>
        </p:nvSpPr>
        <p:spPr bwMode="auto">
          <a:xfrm>
            <a:off x="1091383" y="1646118"/>
            <a:ext cx="8268927" cy="420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l">
              <a:buClr>
                <a:schemeClr val="tx1"/>
              </a:buClr>
              <a:buFont typeface="Wingdings" panose="05000000000000000000" pitchFamily="2" charset="2"/>
              <a:buChar char="Ø"/>
            </a:pPr>
            <a:r>
              <a:rPr lang="en-US" sz="2200" b="1" dirty="0">
                <a:solidFill>
                  <a:schemeClr val="tx1"/>
                </a:solidFill>
                <a:latin typeface="Arial" panose="020B0604020202020204" pitchFamily="34" charset="0"/>
                <a:cs typeface="Arial" panose="020B0604020202020204" pitchFamily="34" charset="0"/>
              </a:rPr>
              <a:t>Support Vector Classifier (SVC):</a:t>
            </a:r>
            <a:r>
              <a:rPr lang="en-US" sz="2200" dirty="0">
                <a:solidFill>
                  <a:schemeClr val="tx1"/>
                </a:solidFill>
                <a:latin typeface="Arial" panose="020B0604020202020204" pitchFamily="34" charset="0"/>
                <a:cs typeface="Arial" panose="020B0604020202020204" pitchFamily="34" charset="0"/>
              </a:rPr>
              <a:t> Effective in high-dimensional spaces. I optimized the Hyperplane using different C (Regularization) and Gamma parameters.</a:t>
            </a:r>
            <a:endParaRPr lang="en-IN" sz="2200" dirty="0">
              <a:solidFill>
                <a:schemeClr val="tx1"/>
              </a:solidFill>
              <a:latin typeface="Arial" panose="020B0604020202020204" pitchFamily="34" charset="0"/>
              <a:cs typeface="Arial" panose="020B0604020202020204" pitchFamily="34" charset="0"/>
            </a:endParaRPr>
          </a:p>
          <a:p>
            <a:pPr marL="285750" indent="-285750" algn="l">
              <a:buClr>
                <a:schemeClr val="tx1"/>
              </a:buClr>
              <a:buFont typeface="Wingdings" panose="05000000000000000000" pitchFamily="2" charset="2"/>
              <a:buChar char="Ø"/>
            </a:pPr>
            <a:r>
              <a:rPr lang="en-US" sz="2200" b="1" dirty="0">
                <a:solidFill>
                  <a:schemeClr val="tx1"/>
                </a:solidFill>
                <a:latin typeface="Arial" panose="020B0604020202020204" pitchFamily="34" charset="0"/>
                <a:cs typeface="Arial" panose="020B0604020202020204" pitchFamily="34" charset="0"/>
              </a:rPr>
              <a:t>Random Forest (Ensemble Bagging):</a:t>
            </a:r>
            <a:r>
              <a:rPr lang="en-US" sz="2200" dirty="0">
                <a:solidFill>
                  <a:schemeClr val="tx1"/>
                </a:solidFill>
                <a:latin typeface="Arial" panose="020B0604020202020204" pitchFamily="34" charset="0"/>
                <a:cs typeface="Arial" panose="020B0604020202020204" pitchFamily="34" charset="0"/>
              </a:rPr>
              <a:t> Combines hundreds of decision trees to reduce "Overfitting." It is highly robust against the multi-collinearity found in medical features.</a:t>
            </a:r>
            <a:endParaRPr lang="en-IN" sz="2200" dirty="0">
              <a:solidFill>
                <a:schemeClr val="tx1"/>
              </a:solidFill>
              <a:latin typeface="Arial" panose="020B0604020202020204" pitchFamily="34" charset="0"/>
              <a:cs typeface="Arial" panose="020B0604020202020204" pitchFamily="34" charset="0"/>
            </a:endParaRPr>
          </a:p>
          <a:p>
            <a:pPr marL="285750" indent="-285750" algn="l">
              <a:buClr>
                <a:schemeClr val="tx1"/>
              </a:buClr>
              <a:buFont typeface="Wingdings" panose="05000000000000000000" pitchFamily="2" charset="2"/>
              <a:buChar char="Ø"/>
            </a:pPr>
            <a:r>
              <a:rPr lang="en-US" sz="2200" b="1" dirty="0" err="1">
                <a:solidFill>
                  <a:schemeClr val="tx1"/>
                </a:solidFill>
                <a:latin typeface="Arial" panose="020B0604020202020204" pitchFamily="34" charset="0"/>
                <a:cs typeface="Arial" panose="020B0604020202020204" pitchFamily="34" charset="0"/>
              </a:rPr>
              <a:t>XGBoost</a:t>
            </a:r>
            <a:r>
              <a:rPr lang="en-US" sz="2200" b="1" dirty="0">
                <a:solidFill>
                  <a:schemeClr val="tx1"/>
                </a:solidFill>
                <a:latin typeface="Arial" panose="020B0604020202020204" pitchFamily="34" charset="0"/>
                <a:cs typeface="Arial" panose="020B0604020202020204" pitchFamily="34" charset="0"/>
              </a:rPr>
              <a:t> (Gradient Boosting): </a:t>
            </a:r>
            <a:r>
              <a:rPr lang="en-US" sz="2200" dirty="0">
                <a:solidFill>
                  <a:schemeClr val="tx1"/>
                </a:solidFill>
                <a:latin typeface="Arial" panose="020B0604020202020204" pitchFamily="34" charset="0"/>
                <a:cs typeface="Arial" panose="020B0604020202020204" pitchFamily="34" charset="0"/>
              </a:rPr>
              <a:t>A state-of-the-art framework that uses a gradient descent algorithm to minimize errors iteratively, offering extreme speed and precision.</a:t>
            </a:r>
            <a:endParaRPr lang="en-IN" sz="2200" dirty="0">
              <a:solidFill>
                <a:schemeClr val="tx1"/>
              </a:solidFill>
              <a:latin typeface="Arial" panose="020B0604020202020204" pitchFamily="34" charset="0"/>
              <a:cs typeface="Arial" panose="020B0604020202020204" pitchFamily="34" charset="0"/>
            </a:endParaRPr>
          </a:p>
          <a:p>
            <a:pPr marL="285750" indent="-285750" algn="l">
              <a:buClr>
                <a:schemeClr val="tx1"/>
              </a:buClr>
              <a:buFont typeface="Wingdings" panose="05000000000000000000" pitchFamily="2" charset="2"/>
              <a:buChar char="Ø"/>
            </a:pPr>
            <a:r>
              <a:rPr lang="en-US" sz="2200" b="1" dirty="0">
                <a:solidFill>
                  <a:schemeClr val="tx1"/>
                </a:solidFill>
                <a:latin typeface="Arial" panose="020B0604020202020204" pitchFamily="34" charset="0"/>
                <a:cs typeface="Arial" panose="020B0604020202020204" pitchFamily="34" charset="0"/>
              </a:rPr>
              <a:t>Feature Selection:</a:t>
            </a:r>
            <a:r>
              <a:rPr lang="en-US" sz="2200" dirty="0">
                <a:solidFill>
                  <a:schemeClr val="tx1"/>
                </a:solidFill>
                <a:latin typeface="Arial" panose="020B0604020202020204" pitchFamily="34" charset="0"/>
                <a:cs typeface="Arial" panose="020B0604020202020204" pitchFamily="34" charset="0"/>
              </a:rPr>
              <a:t> Analyzed Gini Importance to understand which features contributed most to the final diagnosis.</a:t>
            </a:r>
            <a:endParaRPr lang="en-IN" sz="2200" dirty="0">
              <a:solidFill>
                <a:schemeClr val="tx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960F1DB4-CB28-3E0C-28C3-5165284310E2}"/>
              </a:ext>
            </a:extLst>
          </p:cNvPr>
          <p:cNvSpPr txBox="1"/>
          <p:nvPr/>
        </p:nvSpPr>
        <p:spPr>
          <a:xfrm>
            <a:off x="11825313" y="6410632"/>
            <a:ext cx="442452" cy="369332"/>
          </a:xfrm>
          <a:prstGeom prst="rect">
            <a:avLst/>
          </a:prstGeom>
          <a:noFill/>
        </p:spPr>
        <p:txBody>
          <a:bodyPr wrap="square" rtlCol="0">
            <a:spAutoFit/>
          </a:bodyPr>
          <a:lstStyle/>
          <a:p>
            <a:r>
              <a:rPr lang="en-IN" dirty="0"/>
              <a:t>8</a:t>
            </a:r>
          </a:p>
        </p:txBody>
      </p:sp>
    </p:spTree>
    <p:extLst>
      <p:ext uri="{BB962C8B-B14F-4D97-AF65-F5344CB8AC3E}">
        <p14:creationId xmlns:p14="http://schemas.microsoft.com/office/powerpoint/2010/main" val="1638498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E80DE-B2DE-4F89-E963-13CD1857FD72}"/>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4962E1C-E51B-095D-6ECE-EABBA771FEBA}"/>
              </a:ext>
            </a:extLst>
          </p:cNvPr>
          <p:cNvSpPr/>
          <p:nvPr/>
        </p:nvSpPr>
        <p:spPr>
          <a:xfrm>
            <a:off x="1091383" y="432619"/>
            <a:ext cx="6548282" cy="825855"/>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08BC217F-FAF9-BE2B-6923-FBE6B6E14B98}"/>
              </a:ext>
            </a:extLst>
          </p:cNvPr>
          <p:cNvSpPr>
            <a:spLocks noGrp="1"/>
          </p:cNvSpPr>
          <p:nvPr>
            <p:ph type="ctrTitle"/>
          </p:nvPr>
        </p:nvSpPr>
        <p:spPr>
          <a:xfrm>
            <a:off x="1091382" y="432619"/>
            <a:ext cx="6823585" cy="825855"/>
          </a:xfrm>
        </p:spPr>
        <p:txBody>
          <a:bodyPr/>
          <a:lstStyle/>
          <a:p>
            <a:pPr algn="l"/>
            <a:r>
              <a:rPr lang="en-IN" b="1" dirty="0">
                <a:solidFill>
                  <a:schemeClr val="tx2"/>
                </a:solidFill>
              </a:rPr>
              <a:t>Results And Analysis</a:t>
            </a:r>
          </a:p>
        </p:txBody>
      </p:sp>
      <p:sp>
        <p:nvSpPr>
          <p:cNvPr id="8" name="TextBox 7">
            <a:extLst>
              <a:ext uri="{FF2B5EF4-FFF2-40B4-BE49-F238E27FC236}">
                <a16:creationId xmlns:a16="http://schemas.microsoft.com/office/drawing/2014/main" id="{C51A0414-1A50-F2C1-BEE8-FFF3B1E1D216}"/>
              </a:ext>
            </a:extLst>
          </p:cNvPr>
          <p:cNvSpPr txBox="1"/>
          <p:nvPr/>
        </p:nvSpPr>
        <p:spPr>
          <a:xfrm>
            <a:off x="11825313" y="6410632"/>
            <a:ext cx="442452" cy="369332"/>
          </a:xfrm>
          <a:prstGeom prst="rect">
            <a:avLst/>
          </a:prstGeom>
          <a:noFill/>
        </p:spPr>
        <p:txBody>
          <a:bodyPr wrap="square" rtlCol="0">
            <a:spAutoFit/>
          </a:bodyPr>
          <a:lstStyle/>
          <a:p>
            <a:r>
              <a:rPr lang="en-IN" dirty="0"/>
              <a:t>8</a:t>
            </a:r>
          </a:p>
        </p:txBody>
      </p:sp>
      <p:sp>
        <p:nvSpPr>
          <p:cNvPr id="5" name="Rectangle 2">
            <a:extLst>
              <a:ext uri="{FF2B5EF4-FFF2-40B4-BE49-F238E27FC236}">
                <a16:creationId xmlns:a16="http://schemas.microsoft.com/office/drawing/2014/main" id="{BE3DDA8E-849D-49A1-C886-4FF2E821BCE2}"/>
              </a:ext>
            </a:extLst>
          </p:cNvPr>
          <p:cNvSpPr>
            <a:spLocks noGrp="1" noChangeArrowheads="1"/>
          </p:cNvSpPr>
          <p:nvPr>
            <p:ph type="subTitle" idx="1"/>
          </p:nvPr>
        </p:nvSpPr>
        <p:spPr bwMode="auto">
          <a:xfrm>
            <a:off x="383459" y="195997"/>
            <a:ext cx="12506632" cy="6647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2400" b="1"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2400" b="1"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400" b="1" dirty="0">
                <a:solidFill>
                  <a:schemeClr val="tx1"/>
                </a:solidFill>
                <a:latin typeface="Arial" panose="020B0604020202020204" pitchFamily="34" charset="0"/>
              </a:rPr>
              <a:t>Performance Metrics:</a:t>
            </a:r>
            <a:endParaRPr lang="en-US" altLang="en-US" sz="2400" dirty="0">
              <a:solidFill>
                <a:schemeClr val="tx1"/>
              </a:solidFill>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Random Forest :-</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99.3% Accuracy</a:t>
            </a:r>
            <a:r>
              <a:rPr kumimoji="0" lang="en-US" altLang="en-US" sz="2400" b="0" i="0" u="none" strike="noStrike" cap="none" normalizeH="0" baseline="0" dirty="0">
                <a:ln>
                  <a:noFill/>
                </a:ln>
                <a:solidFill>
                  <a:schemeClr val="tx1"/>
                </a:solidFill>
                <a:effectLst/>
                <a:latin typeface="Arial" panose="020B0604020202020204" pitchFamily="34" charset="0"/>
              </a:rPr>
              <a:t> (The strongest performer).</a:t>
            </a: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err="1">
                <a:ln>
                  <a:noFill/>
                </a:ln>
                <a:solidFill>
                  <a:schemeClr val="tx1"/>
                </a:solidFill>
                <a:effectLst/>
                <a:latin typeface="Arial" panose="020B0604020202020204" pitchFamily="34" charset="0"/>
              </a:rPr>
              <a:t>XGBoost</a:t>
            </a:r>
            <a:r>
              <a:rPr kumimoji="0" lang="en-US" altLang="en-US" sz="2400" b="1" i="0" u="none" strike="noStrike" cap="none" normalizeH="0" baseline="0" dirty="0">
                <a:ln>
                  <a:noFill/>
                </a:ln>
                <a:solidFill>
                  <a:schemeClr val="tx1"/>
                </a:solidFill>
                <a:effectLst/>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97.9% Accuracy.</a:t>
            </a: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SVC :</a:t>
            </a:r>
            <a:r>
              <a:rPr lang="en-US" altLang="en-US" sz="2400" b="1" dirty="0">
                <a:solidFill>
                  <a:schemeClr val="tx1"/>
                </a:solidFill>
                <a:latin typeface="Arial" panose="020B0604020202020204" pitchFamily="34" charset="0"/>
              </a:rPr>
              <a:t>-</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93.0% Accuracy</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Confusion Matrix Analysis</a:t>
            </a:r>
            <a:r>
              <a:rPr kumimoji="0" lang="en-US" altLang="en-US" sz="2400" i="0" u="none" strike="noStrike" cap="none" normalizeH="0" baseline="0" dirty="0">
                <a:ln>
                  <a:noFill/>
                </a:ln>
                <a:solidFill>
                  <a:schemeClr val="tx1"/>
                </a:solidFill>
                <a:effectLst/>
                <a:latin typeface="Arial" panose="020B0604020202020204" pitchFamily="34" charset="0"/>
              </a:rPr>
              <a:t>:- </a:t>
            </a:r>
          </a:p>
          <a:p>
            <a:pPr marR="0" lvl="0" algn="l" defTabSz="914400" rtl="0" eaLnBrk="0" fontAlgn="base" latinLnBrk="0" hangingPunct="0">
              <a:lnSpc>
                <a:spcPct val="100000"/>
              </a:lnSpc>
              <a:spcBef>
                <a:spcPct val="0"/>
              </a:spcBef>
              <a:spcAft>
                <a:spcPct val="0"/>
              </a:spcAft>
              <a:buClrTx/>
              <a:buSzTx/>
              <a:tabLst/>
            </a:pPr>
            <a:r>
              <a:rPr lang="en-US" altLang="en-US" sz="2400" dirty="0">
                <a:solidFill>
                  <a:schemeClr val="tx1"/>
                </a:solidFill>
                <a:latin typeface="Arial" panose="020B0604020202020204" pitchFamily="34" charset="0"/>
              </a:rPr>
              <a:t>              </a:t>
            </a:r>
            <a:r>
              <a:rPr kumimoji="0" lang="en-US" altLang="en-US" sz="2400" i="0" u="none" strike="noStrike" cap="none" normalizeH="0" baseline="0" dirty="0">
                <a:ln>
                  <a:noFill/>
                </a:ln>
                <a:solidFill>
                  <a:schemeClr val="tx1"/>
                </a:solidFill>
                <a:effectLst/>
                <a:latin typeface="Arial" panose="020B0604020202020204" pitchFamily="34" charset="0"/>
              </a:rPr>
              <a:t> The Random Forest and </a:t>
            </a:r>
            <a:r>
              <a:rPr kumimoji="0" lang="en-US" altLang="en-US" sz="2400" i="0" u="none" strike="noStrike" cap="none" normalizeH="0" baseline="0" dirty="0" err="1">
                <a:ln>
                  <a:noFill/>
                </a:ln>
                <a:solidFill>
                  <a:schemeClr val="tx1"/>
                </a:solidFill>
                <a:effectLst/>
                <a:latin typeface="Arial" panose="020B0604020202020204" pitchFamily="34" charset="0"/>
              </a:rPr>
              <a:t>XGBoost</a:t>
            </a:r>
            <a:r>
              <a:rPr kumimoji="0" lang="en-US" altLang="en-US" sz="2400" i="0" u="none" strike="noStrike" cap="none" normalizeH="0" baseline="0" dirty="0">
                <a:ln>
                  <a:noFill/>
                </a:ln>
                <a:solidFill>
                  <a:schemeClr val="tx1"/>
                </a:solidFill>
                <a:effectLst/>
                <a:latin typeface="Arial" panose="020B0604020202020204" pitchFamily="34" charset="0"/>
              </a:rPr>
              <a:t> models achieved a           </a:t>
            </a:r>
          </a:p>
          <a:p>
            <a:pPr marR="0" lvl="0" algn="l" defTabSz="914400" rtl="0" eaLnBrk="0" fontAlgn="base" latinLnBrk="0" hangingPunct="0">
              <a:lnSpc>
                <a:spcPct val="100000"/>
              </a:lnSpc>
              <a:spcBef>
                <a:spcPct val="0"/>
              </a:spcBef>
              <a:spcAft>
                <a:spcPct val="0"/>
              </a:spcAft>
              <a:buClrTx/>
              <a:buSzTx/>
              <a:tabLst/>
            </a:pPr>
            <a:r>
              <a:rPr kumimoji="0" lang="en-US" altLang="en-US" sz="2400" i="0" u="none" strike="noStrike" cap="none" normalizeH="0" baseline="0" dirty="0">
                <a:ln>
                  <a:noFill/>
                </a:ln>
                <a:solidFill>
                  <a:schemeClr val="tx1"/>
                </a:solidFill>
                <a:effectLst/>
                <a:latin typeface="Arial" panose="020B0604020202020204" pitchFamily="34" charset="0"/>
              </a:rPr>
              <a:t>               Zero False Negative count. This is the "Gold Standard" for medical AI.</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Arial" panose="020B0604020202020204" pitchFamily="34" charset="0"/>
              </a:rPr>
              <a:t>Visual Insights:</a:t>
            </a:r>
            <a:r>
              <a:rPr kumimoji="0" lang="en-US" altLang="en-US" sz="2400" b="0" i="0" u="none" strike="noStrike" cap="none" normalizeH="0" baseline="0" dirty="0">
                <a:ln>
                  <a:noFill/>
                </a:ln>
                <a:solidFill>
                  <a:schemeClr val="tx1"/>
                </a:solidFill>
                <a:effectLst/>
                <a:latin typeface="Arial" panose="020B0604020202020204" pitchFamily="34" charset="0"/>
              </a:rPr>
              <a:t> </a:t>
            </a:r>
          </a:p>
          <a:p>
            <a:pPr marR="0" lvl="0" algn="l" defTabSz="914400" rtl="0" eaLnBrk="0" fontAlgn="base" latinLnBrk="0" hangingPunct="0">
              <a:lnSpc>
                <a:spcPct val="100000"/>
              </a:lnSpc>
              <a:spcBef>
                <a:spcPct val="0"/>
              </a:spcBef>
              <a:spcAft>
                <a:spcPct val="0"/>
              </a:spcAft>
              <a:buClrTx/>
              <a:buSzTx/>
              <a:tabLst/>
            </a:pPr>
            <a:r>
              <a:rPr lang="en-US" altLang="en-US" sz="2400" dirty="0">
                <a:solidFill>
                  <a:schemeClr val="tx1"/>
                </a:solidFill>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Heatmap:-</a:t>
            </a:r>
          </a:p>
          <a:p>
            <a:pPr marR="0" lvl="0" algn="l" defTabSz="914400" rtl="0" eaLnBrk="0" fontAlgn="base" latinLnBrk="0" hangingPunct="0">
              <a:lnSpc>
                <a:spcPct val="100000"/>
              </a:lnSpc>
              <a:spcBef>
                <a:spcPct val="0"/>
              </a:spcBef>
              <a:spcAft>
                <a:spcPct val="0"/>
              </a:spcAft>
              <a:buClrTx/>
              <a:buSzTx/>
              <a:tabLst/>
            </a:pPr>
            <a:r>
              <a:rPr lang="en-US" altLang="en-US" sz="2400" b="1" dirty="0">
                <a:solidFill>
                  <a:schemeClr val="tx1"/>
                </a:solidFill>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Revealed that 'Perimeter' and 'Area' are the most critical               </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Arial" panose="020B0604020202020204" pitchFamily="34" charset="0"/>
              </a:rPr>
              <a:t>               predictors.</a:t>
            </a:r>
          </a:p>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Boxplots:-</a:t>
            </a:r>
          </a:p>
          <a:p>
            <a:pPr marR="0" lvl="0" algn="l" defTabSz="914400" rtl="0" eaLnBrk="0" fontAlgn="base" latinLnBrk="0" hangingPunct="0">
              <a:lnSpc>
                <a:spcPct val="100000"/>
              </a:lnSpc>
              <a:spcBef>
                <a:spcPct val="0"/>
              </a:spcBef>
              <a:spcAft>
                <a:spcPct val="0"/>
              </a:spcAft>
              <a:buClrTx/>
              <a:buSzTx/>
              <a:tabLst/>
            </a:pPr>
            <a:r>
              <a:rPr lang="en-US" altLang="en-US" sz="2400" b="1" dirty="0">
                <a:solidFill>
                  <a:schemeClr val="tx1"/>
                </a:solidFill>
                <a:latin typeface="Arial" panose="020B0604020202020204" pitchFamily="34" charset="0"/>
              </a:rPr>
              <a:t>              </a:t>
            </a:r>
            <a:r>
              <a:rPr lang="en-US" altLang="en-US" sz="2400" dirty="0">
                <a:solidFill>
                  <a:schemeClr val="tx1"/>
                </a:solidFill>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Showed a clear statistical gap in the values between Malignant and  </a:t>
            </a:r>
          </a:p>
          <a:p>
            <a:pPr marR="0" lvl="0" algn="l" defTabSz="914400" rtl="0" eaLnBrk="0" fontAlgn="base" latinLnBrk="0" hangingPunct="0">
              <a:lnSpc>
                <a:spcPct val="100000"/>
              </a:lnSpc>
              <a:spcBef>
                <a:spcPct val="0"/>
              </a:spcBef>
              <a:spcAft>
                <a:spcPct val="0"/>
              </a:spcAft>
              <a:buClrTx/>
              <a:buSzTx/>
              <a:tabLst/>
            </a:pPr>
            <a:r>
              <a:rPr lang="en-US" altLang="en-US" sz="2400" dirty="0">
                <a:solidFill>
                  <a:schemeClr val="tx1"/>
                </a:solidFill>
                <a:latin typeface="Arial" panose="020B0604020202020204" pitchFamily="34" charset="0"/>
              </a:rPr>
              <a:t>               </a:t>
            </a:r>
            <a:r>
              <a:rPr kumimoji="0" lang="en-US" altLang="en-US" sz="2400" b="0" i="0" u="none" strike="noStrike" cap="none" normalizeH="0" baseline="0" dirty="0">
                <a:ln>
                  <a:noFill/>
                </a:ln>
                <a:solidFill>
                  <a:schemeClr val="tx1"/>
                </a:solidFill>
                <a:effectLst/>
                <a:latin typeface="Arial" panose="020B0604020202020204" pitchFamily="34" charset="0"/>
              </a:rPr>
              <a:t>Benign classes.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341800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29591-0315-1DE8-8339-D936F87BB07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EEB57017-9163-DD71-0285-CF89E983CC6F}"/>
              </a:ext>
            </a:extLst>
          </p:cNvPr>
          <p:cNvSpPr/>
          <p:nvPr/>
        </p:nvSpPr>
        <p:spPr>
          <a:xfrm>
            <a:off x="1091383" y="432619"/>
            <a:ext cx="6548282" cy="825855"/>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E374AEBD-F4E5-F853-EDB2-6F9DCFDFBA59}"/>
              </a:ext>
            </a:extLst>
          </p:cNvPr>
          <p:cNvSpPr>
            <a:spLocks noGrp="1"/>
          </p:cNvSpPr>
          <p:nvPr>
            <p:ph type="ctrTitle"/>
          </p:nvPr>
        </p:nvSpPr>
        <p:spPr>
          <a:xfrm>
            <a:off x="1091382" y="432619"/>
            <a:ext cx="6823585" cy="825855"/>
          </a:xfrm>
        </p:spPr>
        <p:txBody>
          <a:bodyPr/>
          <a:lstStyle/>
          <a:p>
            <a:pPr algn="l"/>
            <a:r>
              <a:rPr lang="en-US" sz="4800" b="1" dirty="0">
                <a:solidFill>
                  <a:schemeClr val="tx2"/>
                </a:solidFill>
                <a:latin typeface="Arial" panose="020B0604020202020204" pitchFamily="34" charset="0"/>
                <a:cs typeface="Arial" panose="020B0604020202020204" pitchFamily="34" charset="0"/>
              </a:rPr>
              <a:t>O</a:t>
            </a:r>
            <a:r>
              <a:rPr lang="en-IN" sz="4800" b="1" dirty="0" err="1">
                <a:solidFill>
                  <a:schemeClr val="tx2"/>
                </a:solidFill>
                <a:latin typeface="Arial" panose="020B0604020202020204" pitchFamily="34" charset="0"/>
                <a:cs typeface="Arial" panose="020B0604020202020204" pitchFamily="34" charset="0"/>
              </a:rPr>
              <a:t>utput</a:t>
            </a:r>
            <a:r>
              <a:rPr lang="en-IN" sz="4800" b="1" dirty="0">
                <a:solidFill>
                  <a:schemeClr val="tx2"/>
                </a:solidFill>
                <a:latin typeface="Arial" panose="020B0604020202020204" pitchFamily="34" charset="0"/>
                <a:cs typeface="Arial" panose="020B0604020202020204" pitchFamily="34" charset="0"/>
              </a:rPr>
              <a:t> And Graphs</a:t>
            </a:r>
          </a:p>
        </p:txBody>
      </p:sp>
      <p:sp>
        <p:nvSpPr>
          <p:cNvPr id="8" name="TextBox 7">
            <a:extLst>
              <a:ext uri="{FF2B5EF4-FFF2-40B4-BE49-F238E27FC236}">
                <a16:creationId xmlns:a16="http://schemas.microsoft.com/office/drawing/2014/main" id="{D2121EC0-DDF3-A4DB-F050-947BFD0BEE46}"/>
              </a:ext>
            </a:extLst>
          </p:cNvPr>
          <p:cNvSpPr txBox="1"/>
          <p:nvPr/>
        </p:nvSpPr>
        <p:spPr>
          <a:xfrm>
            <a:off x="11825313" y="6410632"/>
            <a:ext cx="442452" cy="369332"/>
          </a:xfrm>
          <a:prstGeom prst="rect">
            <a:avLst/>
          </a:prstGeom>
          <a:noFill/>
        </p:spPr>
        <p:txBody>
          <a:bodyPr wrap="square" rtlCol="0">
            <a:spAutoFit/>
          </a:bodyPr>
          <a:lstStyle/>
          <a:p>
            <a:r>
              <a:rPr lang="en-IN" dirty="0"/>
              <a:t>8</a:t>
            </a:r>
          </a:p>
        </p:txBody>
      </p:sp>
      <p:sp>
        <p:nvSpPr>
          <p:cNvPr id="5" name="Rectangle 2">
            <a:extLst>
              <a:ext uri="{FF2B5EF4-FFF2-40B4-BE49-F238E27FC236}">
                <a16:creationId xmlns:a16="http://schemas.microsoft.com/office/drawing/2014/main" id="{C000CEA7-492B-CDCE-F8F4-DDCD3FAAC584}"/>
              </a:ext>
            </a:extLst>
          </p:cNvPr>
          <p:cNvSpPr>
            <a:spLocks noGrp="1" noChangeArrowheads="1"/>
          </p:cNvSpPr>
          <p:nvPr>
            <p:ph type="subTitle" idx="1"/>
          </p:nvPr>
        </p:nvSpPr>
        <p:spPr bwMode="auto">
          <a:xfrm>
            <a:off x="383459" y="2781320"/>
            <a:ext cx="1250663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2400" b="1" i="0" u="none" strike="noStrike" cap="none" normalizeH="0" baseline="0" dirty="0">
                <a:ln>
                  <a:noFill/>
                </a:ln>
                <a:solidFill>
                  <a:schemeClr val="tx1"/>
                </a:solidFill>
                <a:effectLst/>
                <a:latin typeface="Arial" panose="020B0604020202020204" pitchFamily="34" charset="0"/>
              </a:rPr>
              <a:t>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2400" b="1" dirty="0">
              <a:solidFill>
                <a:schemeClr val="tx1"/>
              </a:solidFill>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sz="2400" b="1"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54B00D6D-F341-3662-5446-51DA118FF4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659" y="1819791"/>
            <a:ext cx="4286864" cy="4679331"/>
          </a:xfrm>
          <a:prstGeom prst="rect">
            <a:avLst/>
          </a:prstGeom>
        </p:spPr>
      </p:pic>
      <p:pic>
        <p:nvPicPr>
          <p:cNvPr id="9" name="Picture 8">
            <a:extLst>
              <a:ext uri="{FF2B5EF4-FFF2-40B4-BE49-F238E27FC236}">
                <a16:creationId xmlns:a16="http://schemas.microsoft.com/office/drawing/2014/main" id="{C41AC6A6-757F-FD00-0046-BBA526E44E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14967" y="2005781"/>
            <a:ext cx="3964656" cy="4227870"/>
          </a:xfrm>
          <a:prstGeom prst="rect">
            <a:avLst/>
          </a:prstGeom>
        </p:spPr>
      </p:pic>
      <p:pic>
        <p:nvPicPr>
          <p:cNvPr id="11" name="Picture 10">
            <a:extLst>
              <a:ext uri="{FF2B5EF4-FFF2-40B4-BE49-F238E27FC236}">
                <a16:creationId xmlns:a16="http://schemas.microsoft.com/office/drawing/2014/main" id="{3F5F4C9A-82E1-00DD-08CB-543AA5E879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1226" y="1819790"/>
            <a:ext cx="4129548" cy="4413861"/>
          </a:xfrm>
          <a:prstGeom prst="rect">
            <a:avLst/>
          </a:prstGeom>
        </p:spPr>
      </p:pic>
      <p:sp>
        <p:nvSpPr>
          <p:cNvPr id="12" name="TextBox 11">
            <a:extLst>
              <a:ext uri="{FF2B5EF4-FFF2-40B4-BE49-F238E27FC236}">
                <a16:creationId xmlns:a16="http://schemas.microsoft.com/office/drawing/2014/main" id="{92D87C0B-503C-E6D5-9953-004F5379C66F}"/>
              </a:ext>
            </a:extLst>
          </p:cNvPr>
          <p:cNvSpPr txBox="1"/>
          <p:nvPr/>
        </p:nvSpPr>
        <p:spPr>
          <a:xfrm>
            <a:off x="457201" y="1410158"/>
            <a:ext cx="3529780"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       HEATMAP IMAGE</a:t>
            </a:r>
            <a:endParaRPr lang="en-IN" sz="2000"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C57C041E-FE4B-4FA7-1856-A0ADA9B455C0}"/>
              </a:ext>
            </a:extLst>
          </p:cNvPr>
          <p:cNvSpPr txBox="1"/>
          <p:nvPr/>
        </p:nvSpPr>
        <p:spPr>
          <a:xfrm>
            <a:off x="4308697" y="1410158"/>
            <a:ext cx="2957342" cy="400110"/>
          </a:xfrm>
          <a:prstGeom prst="rect">
            <a:avLst/>
          </a:prstGeom>
          <a:noFill/>
        </p:spPr>
        <p:txBody>
          <a:bodyPr wrap="square" rtlCol="0">
            <a:spAutoFit/>
          </a:bodyPr>
          <a:lstStyle/>
          <a:p>
            <a:pPr algn="ctr"/>
            <a:r>
              <a:rPr lang="en-US" sz="2000" dirty="0">
                <a:latin typeface="Arial" panose="020B0604020202020204" pitchFamily="34" charset="0"/>
                <a:cs typeface="Arial" panose="020B0604020202020204" pitchFamily="34" charset="0"/>
              </a:rPr>
              <a:t>CONFUSION MATRIX</a:t>
            </a:r>
            <a:endParaRPr lang="en-IN" sz="20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FC097678-945F-5AEA-3D2F-16BB86D12FB2}"/>
              </a:ext>
            </a:extLst>
          </p:cNvPr>
          <p:cNvSpPr txBox="1"/>
          <p:nvPr/>
        </p:nvSpPr>
        <p:spPr>
          <a:xfrm>
            <a:off x="7747819" y="1410158"/>
            <a:ext cx="4925962" cy="677108"/>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MODEL ACCURACY COMPARISON</a:t>
            </a:r>
          </a:p>
          <a:p>
            <a:endParaRPr lang="en-IN" dirty="0"/>
          </a:p>
        </p:txBody>
      </p:sp>
    </p:spTree>
    <p:extLst>
      <p:ext uri="{BB962C8B-B14F-4D97-AF65-F5344CB8AC3E}">
        <p14:creationId xmlns:p14="http://schemas.microsoft.com/office/powerpoint/2010/main" val="4016332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A1E44-7D41-BF6F-2C87-D098AFDC75DE}"/>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5F8E0549-B8DA-58B4-5A3C-BC8306AF27D4}"/>
              </a:ext>
            </a:extLst>
          </p:cNvPr>
          <p:cNvSpPr/>
          <p:nvPr/>
        </p:nvSpPr>
        <p:spPr>
          <a:xfrm>
            <a:off x="1091384" y="432618"/>
            <a:ext cx="3913236" cy="825910"/>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2DFDE8BF-6C3F-461B-F2F4-E7491990C8AA}"/>
              </a:ext>
            </a:extLst>
          </p:cNvPr>
          <p:cNvSpPr>
            <a:spLocks noGrp="1"/>
          </p:cNvSpPr>
          <p:nvPr>
            <p:ph type="ctrTitle"/>
          </p:nvPr>
        </p:nvSpPr>
        <p:spPr>
          <a:xfrm>
            <a:off x="1091383" y="344129"/>
            <a:ext cx="4286862" cy="914399"/>
          </a:xfrm>
        </p:spPr>
        <p:txBody>
          <a:bodyPr/>
          <a:lstStyle/>
          <a:p>
            <a:pPr algn="l"/>
            <a:r>
              <a:rPr lang="en-US" b="1" dirty="0">
                <a:solidFill>
                  <a:schemeClr val="tx2"/>
                </a:solidFill>
                <a:latin typeface="Arial" panose="020B0604020202020204" pitchFamily="34" charset="0"/>
                <a:cs typeface="Arial" panose="020B0604020202020204" pitchFamily="34" charset="0"/>
              </a:rPr>
              <a:t>C</a:t>
            </a:r>
            <a:r>
              <a:rPr lang="en-IN" b="1" dirty="0" err="1">
                <a:solidFill>
                  <a:schemeClr val="tx2"/>
                </a:solidFill>
                <a:latin typeface="Arial" panose="020B0604020202020204" pitchFamily="34" charset="0"/>
                <a:cs typeface="Arial" panose="020B0604020202020204" pitchFamily="34" charset="0"/>
              </a:rPr>
              <a:t>onclusion</a:t>
            </a:r>
            <a:endParaRPr lang="en-IN" b="1" dirty="0">
              <a:solidFill>
                <a:schemeClr val="tx2"/>
              </a:solidFill>
            </a:endParaRPr>
          </a:p>
        </p:txBody>
      </p:sp>
      <p:sp>
        <p:nvSpPr>
          <p:cNvPr id="7" name="Rectangle 3">
            <a:extLst>
              <a:ext uri="{FF2B5EF4-FFF2-40B4-BE49-F238E27FC236}">
                <a16:creationId xmlns:a16="http://schemas.microsoft.com/office/drawing/2014/main" id="{F47330D8-A058-1F91-3F50-886B619BCA82}"/>
              </a:ext>
            </a:extLst>
          </p:cNvPr>
          <p:cNvSpPr>
            <a:spLocks noGrp="1" noChangeArrowheads="1"/>
          </p:cNvSpPr>
          <p:nvPr>
            <p:ph type="subTitle" idx="1"/>
          </p:nvPr>
        </p:nvSpPr>
        <p:spPr bwMode="auto">
          <a:xfrm>
            <a:off x="1091383" y="1138289"/>
            <a:ext cx="8268927"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l">
              <a:buClr>
                <a:schemeClr val="tx1"/>
              </a:buClr>
              <a:buFont typeface="Wingdings" panose="05000000000000000000" pitchFamily="2" charset="2"/>
              <a:buChar char="Ø"/>
            </a:pPr>
            <a:r>
              <a:rPr lang="en-US" sz="1850" b="1" dirty="0">
                <a:solidFill>
                  <a:schemeClr val="tx1"/>
                </a:solidFill>
                <a:latin typeface="Arial" panose="020B0604020202020204" pitchFamily="34" charset="0"/>
                <a:cs typeface="Arial" panose="020B0604020202020204" pitchFamily="34" charset="0"/>
              </a:rPr>
              <a:t>Feasibility:</a:t>
            </a:r>
            <a:r>
              <a:rPr lang="en-US" sz="1850" dirty="0">
                <a:solidFill>
                  <a:schemeClr val="tx1"/>
                </a:solidFill>
                <a:latin typeface="Arial" panose="020B0604020202020204" pitchFamily="34" charset="0"/>
                <a:cs typeface="Arial" panose="020B0604020202020204" pitchFamily="34" charset="0"/>
              </a:rPr>
              <a:t> The project demonstrates that Ensemble Learning can achieve 100% Sensitivity (Recall) for malignant cases, serving as a failsafe objective diagnostic tool that eliminates human error in early-stage identification.</a:t>
            </a:r>
          </a:p>
          <a:p>
            <a:pPr marL="285750" indent="-285750" algn="l">
              <a:buClr>
                <a:schemeClr val="tx1"/>
              </a:buClr>
              <a:buFont typeface="Wingdings" panose="05000000000000000000" pitchFamily="2" charset="2"/>
              <a:buChar char="Ø"/>
            </a:pPr>
            <a:r>
              <a:rPr lang="en-US" sz="1850" b="1" dirty="0">
                <a:solidFill>
                  <a:schemeClr val="tx1"/>
                </a:solidFill>
                <a:latin typeface="Arial" panose="020B0604020202020204" pitchFamily="34" charset="0"/>
                <a:cs typeface="Arial" panose="020B0604020202020204" pitchFamily="34" charset="0"/>
              </a:rPr>
              <a:t>Working Model Status:</a:t>
            </a:r>
            <a:r>
              <a:rPr lang="en-US" sz="1850" dirty="0">
                <a:solidFill>
                  <a:schemeClr val="tx1"/>
                </a:solidFill>
                <a:latin typeface="Arial" panose="020B0604020202020204" pitchFamily="34" charset="0"/>
                <a:cs typeface="Arial" panose="020B0604020202020204" pitchFamily="34" charset="0"/>
              </a:rPr>
              <a:t> This is a production-ready system. By leveraging Model Persistence via serialized binaries (.</a:t>
            </a:r>
            <a:r>
              <a:rPr lang="en-US" sz="1850" dirty="0" err="1">
                <a:solidFill>
                  <a:schemeClr val="tx1"/>
                </a:solidFill>
                <a:latin typeface="Arial" panose="020B0604020202020204" pitchFamily="34" charset="0"/>
                <a:cs typeface="Arial" panose="020B0604020202020204" pitchFamily="34" charset="0"/>
              </a:rPr>
              <a:t>pkl</a:t>
            </a:r>
            <a:r>
              <a:rPr lang="en-US" sz="1850" dirty="0">
                <a:solidFill>
                  <a:schemeClr val="tx1"/>
                </a:solidFill>
                <a:latin typeface="Arial" panose="020B0604020202020204" pitchFamily="34" charset="0"/>
                <a:cs typeface="Arial" panose="020B0604020202020204" pitchFamily="34" charset="0"/>
              </a:rPr>
              <a:t>), the diagnostic engine can be integrated into cloud-based hospital management systems or mobile edge devices for real-time inference without retraining</a:t>
            </a:r>
          </a:p>
          <a:p>
            <a:pPr marL="285750" indent="-285750" algn="l">
              <a:buClr>
                <a:schemeClr val="tx1"/>
              </a:buClr>
              <a:buFont typeface="Wingdings" panose="05000000000000000000" pitchFamily="2" charset="2"/>
              <a:buChar char="Ø"/>
            </a:pPr>
            <a:r>
              <a:rPr lang="en-US" sz="1850" b="1" dirty="0">
                <a:solidFill>
                  <a:schemeClr val="tx1"/>
                </a:solidFill>
                <a:latin typeface="Arial" panose="020B0604020202020204" pitchFamily="34" charset="0"/>
                <a:cs typeface="Arial" panose="020B0604020202020204" pitchFamily="34" charset="0"/>
              </a:rPr>
              <a:t>Transparency</a:t>
            </a:r>
            <a:r>
              <a:rPr lang="en-US" sz="1850" b="1" dirty="0"/>
              <a:t>:</a:t>
            </a:r>
            <a:r>
              <a:rPr lang="en-US" sz="1850" dirty="0"/>
              <a:t> </a:t>
            </a:r>
            <a:r>
              <a:rPr lang="en-US" sz="1850" dirty="0">
                <a:solidFill>
                  <a:schemeClr val="tx1"/>
                </a:solidFill>
                <a:latin typeface="Arial" panose="020B0604020202020204" pitchFamily="34" charset="0"/>
                <a:cs typeface="Arial" panose="020B0604020202020204" pitchFamily="34" charset="0"/>
              </a:rPr>
              <a:t>Unlike traditional 'black box' models, our implementation of SHAP Analysis ensures that clinicians can interpret the specific morphological drivers behind every diagnosis, bridging the gap between AI predictions and medical intuition</a:t>
            </a:r>
          </a:p>
          <a:p>
            <a:pPr marL="285750" indent="-285750" algn="l">
              <a:buClr>
                <a:schemeClr val="tx1"/>
              </a:buClr>
              <a:buFont typeface="Wingdings" panose="05000000000000000000" pitchFamily="2" charset="2"/>
              <a:buChar char="Ø"/>
            </a:pPr>
            <a:r>
              <a:rPr lang="en-US" sz="1850" b="1" dirty="0">
                <a:solidFill>
                  <a:schemeClr val="tx1"/>
                </a:solidFill>
                <a:latin typeface="Arial" panose="020B0604020202020204" pitchFamily="34" charset="0"/>
                <a:cs typeface="Arial" panose="020B0604020202020204" pitchFamily="34" charset="0"/>
              </a:rPr>
              <a:t>Future Scope:</a:t>
            </a:r>
            <a:r>
              <a:rPr lang="en-US" sz="1850" dirty="0">
                <a:solidFill>
                  <a:schemeClr val="tx1"/>
                </a:solidFill>
                <a:latin typeface="Arial" panose="020B0604020202020204" pitchFamily="34" charset="0"/>
                <a:cs typeface="Arial" panose="020B0604020202020204" pitchFamily="34" charset="0"/>
              </a:rPr>
              <a:t> The future roadmap includes Multimodal Integration, where Deep Learning (CNNs) can extract spatial features directly from raw mammography images to complement our existing numerical feature analysis, creating a 360-degree diagnostic ecosystem.</a:t>
            </a:r>
            <a:endParaRPr lang="en-IN" sz="1850" dirty="0">
              <a:solidFill>
                <a:schemeClr val="tx1"/>
              </a:solidFill>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C5E2B042-FAF0-9158-290D-1A4973523C64}"/>
              </a:ext>
            </a:extLst>
          </p:cNvPr>
          <p:cNvSpPr txBox="1"/>
          <p:nvPr/>
        </p:nvSpPr>
        <p:spPr>
          <a:xfrm>
            <a:off x="11825313" y="6410632"/>
            <a:ext cx="442452" cy="369332"/>
          </a:xfrm>
          <a:prstGeom prst="rect">
            <a:avLst/>
          </a:prstGeom>
          <a:noFill/>
        </p:spPr>
        <p:txBody>
          <a:bodyPr wrap="square" rtlCol="0">
            <a:spAutoFit/>
          </a:bodyPr>
          <a:lstStyle/>
          <a:p>
            <a:r>
              <a:rPr lang="en-IN" dirty="0"/>
              <a:t>8</a:t>
            </a:r>
          </a:p>
        </p:txBody>
      </p:sp>
    </p:spTree>
    <p:extLst>
      <p:ext uri="{BB962C8B-B14F-4D97-AF65-F5344CB8AC3E}">
        <p14:creationId xmlns:p14="http://schemas.microsoft.com/office/powerpoint/2010/main" val="34438844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DD1D0366-AD78-D2BF-37F2-1FF477C3030A}"/>
              </a:ext>
            </a:extLst>
          </p:cNvPr>
          <p:cNvSpPr/>
          <p:nvPr/>
        </p:nvSpPr>
        <p:spPr>
          <a:xfrm>
            <a:off x="1959429" y="1987420"/>
            <a:ext cx="6839338" cy="2027976"/>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488233" y="1642189"/>
            <a:ext cx="7665097" cy="2027976"/>
          </a:xfrm>
        </p:spPr>
        <p:txBody>
          <a:bodyPr/>
          <a:lstStyle/>
          <a:p>
            <a:pPr algn="ctr"/>
            <a:r>
              <a:rPr lang="en-US" sz="8800" b="1" dirty="0">
                <a:solidFill>
                  <a:schemeClr val="accent2"/>
                </a:solidFill>
              </a:rPr>
              <a:t>THANK YOU</a:t>
            </a:r>
          </a:p>
        </p:txBody>
      </p:sp>
      <p:pic>
        <p:nvPicPr>
          <p:cNvPr id="5" name="Picture 4">
            <a:extLst>
              <a:ext uri="{FF2B5EF4-FFF2-40B4-BE49-F238E27FC236}">
                <a16:creationId xmlns:a16="http://schemas.microsoft.com/office/drawing/2014/main" id="{7CEF1200-0A4C-ACF9-4D2E-27232AC0F58D}"/>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foregroundMark x1="44167" y1="44500" x2="44167" y2="44500"/>
                        <a14:foregroundMark x1="54000" y1="42333" x2="54000" y2="42333"/>
                      </a14:backgroundRemoval>
                    </a14:imgEffect>
                  </a14:imgLayer>
                </a14:imgProps>
              </a:ext>
            </a:extLst>
          </a:blip>
          <a:stretch>
            <a:fillRect/>
          </a:stretch>
        </p:blipFill>
        <p:spPr>
          <a:xfrm>
            <a:off x="1546549" y="3500596"/>
            <a:ext cx="7665097" cy="2857500"/>
          </a:xfrm>
          <a:prstGeom prst="rect">
            <a:avLst/>
          </a:prstGeom>
        </p:spPr>
      </p:pic>
      <p:sp>
        <p:nvSpPr>
          <p:cNvPr id="9" name="TextBox 8">
            <a:extLst>
              <a:ext uri="{FF2B5EF4-FFF2-40B4-BE49-F238E27FC236}">
                <a16:creationId xmlns:a16="http://schemas.microsoft.com/office/drawing/2014/main" id="{14E31C9E-FCF5-A61D-F779-6D1F10BA88B6}"/>
              </a:ext>
            </a:extLst>
          </p:cNvPr>
          <p:cNvSpPr txBox="1"/>
          <p:nvPr/>
        </p:nvSpPr>
        <p:spPr>
          <a:xfrm>
            <a:off x="11825313" y="6410632"/>
            <a:ext cx="442452" cy="369332"/>
          </a:xfrm>
          <a:prstGeom prst="rect">
            <a:avLst/>
          </a:prstGeom>
          <a:noFill/>
        </p:spPr>
        <p:txBody>
          <a:bodyPr wrap="square" rtlCol="0">
            <a:spAutoFit/>
          </a:bodyPr>
          <a:lstStyle/>
          <a:p>
            <a:r>
              <a:rPr lang="en-IN" dirty="0"/>
              <a:t>9</a:t>
            </a:r>
          </a:p>
        </p:txBody>
      </p:sp>
    </p:spTree>
    <p:extLst>
      <p:ext uri="{BB962C8B-B14F-4D97-AF65-F5344CB8AC3E}">
        <p14:creationId xmlns:p14="http://schemas.microsoft.com/office/powerpoint/2010/main" val="1003962426"/>
      </p:ext>
    </p:extLst>
  </p:cSld>
  <p:clrMapOvr>
    <a:masterClrMapping/>
  </p:clrMapOvr>
  <p:transition spd="slow">
    <p:push dir="u"/>
  </p:transition>
</p:sld>
</file>

<file path=ppt/theme/theme1.xml><?xml version="1.0" encoding="utf-8"?>
<a:theme xmlns:a="http://schemas.openxmlformats.org/drawingml/2006/main" name="Facet">
  <a:themeElements>
    <a:clrScheme name="Yellow Orange">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461</TotalTime>
  <Words>916</Words>
  <Application>Microsoft Office PowerPoint</Application>
  <PresentationFormat>Widescreen</PresentationFormat>
  <Paragraphs>105</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Trebuchet MS</vt:lpstr>
      <vt:lpstr>Wingdings</vt:lpstr>
      <vt:lpstr>Wingdings 3</vt:lpstr>
      <vt:lpstr>Facet</vt:lpstr>
      <vt:lpstr>Pillai HOC College of Engineering and Technology  Department of Electronics and Computer Science </vt:lpstr>
      <vt:lpstr>Outline</vt:lpstr>
      <vt:lpstr>Problem Statement</vt:lpstr>
      <vt:lpstr>Objective</vt:lpstr>
      <vt:lpstr>Dataset Description </vt:lpstr>
      <vt:lpstr>Design Methodology</vt:lpstr>
      <vt:lpstr>Algorithms Used</vt:lpstr>
      <vt:lpstr>Results And Analysis</vt:lpstr>
      <vt:lpstr>Output And Graphs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Karunesh Ghadage</dc:creator>
  <cp:lastModifiedBy>omkar shinde</cp:lastModifiedBy>
  <cp:revision>7</cp:revision>
  <dcterms:created xsi:type="dcterms:W3CDTF">2025-08-10T14:48:01Z</dcterms:created>
  <dcterms:modified xsi:type="dcterms:W3CDTF">2026-04-01T05:47:13Z</dcterms:modified>
</cp:coreProperties>
</file>